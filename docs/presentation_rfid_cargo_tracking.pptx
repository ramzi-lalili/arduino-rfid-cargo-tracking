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71" r:id="rId15"/>
    <p:sldId id="269" r:id="rId16"/>
    <p:sldId id="270" r:id="rId17"/>
    <p:sldId id="272" r:id="rId18"/>
    <p:sldId id="273" r:id="rId19"/>
  </p:sldIdLst>
  <p:sldSz cx="9144000" cy="6858000" type="screen4x3"/>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426" autoAdjust="0"/>
    <p:restoredTop sz="94660"/>
  </p:normalViewPr>
  <p:slideViewPr>
    <p:cSldViewPr>
      <p:cViewPr>
        <p:scale>
          <a:sx n="70" d="100"/>
          <a:sy n="70" d="100"/>
        </p:scale>
        <p:origin x="-1308" y="-1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userId="947cc71224685619" providerId="LiveId" clId="{328038E0-C53D-4CE8-BF8B-28285BE5E7B7}"/>
    <pc:docChg chg="modSld">
      <pc:chgData name="" userId="947cc71224685619" providerId="LiveId" clId="{328038E0-C53D-4CE8-BF8B-28285BE5E7B7}" dt="2024-11-08T16:43:55.250" v="219"/>
      <pc:docMkLst>
        <pc:docMk/>
      </pc:docMkLst>
      <pc:sldChg chg="setBg">
        <pc:chgData name="" userId="947cc71224685619" providerId="LiveId" clId="{328038E0-C53D-4CE8-BF8B-28285BE5E7B7}" dt="2024-11-08T16:43:55.250" v="219"/>
        <pc:sldMkLst>
          <pc:docMk/>
          <pc:sldMk cId="4128454332" sldId="256"/>
        </pc:sldMkLst>
      </pc:sldChg>
      <pc:sldChg chg="setBg">
        <pc:chgData name="" userId="947cc71224685619" providerId="LiveId" clId="{328038E0-C53D-4CE8-BF8B-28285BE5E7B7}" dt="2024-11-08T16:43:45.475" v="218"/>
        <pc:sldMkLst>
          <pc:docMk/>
          <pc:sldMk cId="4081887031" sldId="258"/>
        </pc:sldMkLst>
      </pc:sldChg>
      <pc:sldChg chg="setBg">
        <pc:chgData name="" userId="947cc71224685619" providerId="LiveId" clId="{328038E0-C53D-4CE8-BF8B-28285BE5E7B7}" dt="2024-11-08T16:43:05.824" v="217"/>
        <pc:sldMkLst>
          <pc:docMk/>
          <pc:sldMk cId="2581212982" sldId="259"/>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21345B9-7E24-4C52-B18C-5A2959B7E590}" type="datetimeFigureOut">
              <a:rPr lang="fr-FR" smtClean="0"/>
              <a:t>13/11/2024</a:t>
            </a:fld>
            <a:endParaRPr lang="fr-FR"/>
          </a:p>
        </p:txBody>
      </p:sp>
      <p:sp>
        <p:nvSpPr>
          <p:cNvPr id="4" name="Espace réservé de l'image des diapositives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commentaires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69F35AE-C051-47C4-B79F-372888CAA296}" type="slidenum">
              <a:rPr lang="fr-FR" smtClean="0"/>
              <a:t>‹N°›</a:t>
            </a:fld>
            <a:endParaRPr lang="fr-FR"/>
          </a:p>
        </p:txBody>
      </p:sp>
    </p:spTree>
    <p:extLst>
      <p:ext uri="{BB962C8B-B14F-4D97-AF65-F5344CB8AC3E}">
        <p14:creationId xmlns:p14="http://schemas.microsoft.com/office/powerpoint/2010/main" val="10937622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769F35AE-C051-47C4-B79F-372888CAA296}" type="slidenum">
              <a:rPr lang="fr-FR" smtClean="0"/>
              <a:t>3</a:t>
            </a:fld>
            <a:endParaRPr lang="fr-FR"/>
          </a:p>
        </p:txBody>
      </p:sp>
    </p:spTree>
    <p:extLst>
      <p:ext uri="{BB962C8B-B14F-4D97-AF65-F5344CB8AC3E}">
        <p14:creationId xmlns:p14="http://schemas.microsoft.com/office/powerpoint/2010/main" val="3945314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769F35AE-C051-47C4-B79F-372888CAA296}" type="slidenum">
              <a:rPr lang="fr-FR" smtClean="0"/>
              <a:t>11</a:t>
            </a:fld>
            <a:endParaRPr lang="fr-FR"/>
          </a:p>
        </p:txBody>
      </p:sp>
    </p:spTree>
    <p:extLst>
      <p:ext uri="{BB962C8B-B14F-4D97-AF65-F5344CB8AC3E}">
        <p14:creationId xmlns:p14="http://schemas.microsoft.com/office/powerpoint/2010/main" val="14750488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685800" y="2130425"/>
            <a:ext cx="7772400" cy="1470025"/>
          </a:xfrm>
        </p:spPr>
        <p:txBody>
          <a:bodyPr/>
          <a:lstStyle/>
          <a:p>
            <a:r>
              <a:rPr lang="fr-FR"/>
              <a:t>Modifiez le style du titre</a:t>
            </a:r>
          </a:p>
        </p:txBody>
      </p:sp>
      <p:sp>
        <p:nvSpPr>
          <p:cNvPr id="3" name="Sous-titr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a:t>Modifiez le style des sous-titres du masque</a:t>
            </a:r>
          </a:p>
        </p:txBody>
      </p:sp>
      <p:sp>
        <p:nvSpPr>
          <p:cNvPr id="4" name="Espace réservé de la date 3"/>
          <p:cNvSpPr>
            <a:spLocks noGrp="1"/>
          </p:cNvSpPr>
          <p:nvPr>
            <p:ph type="dt" sz="half" idx="10"/>
          </p:nvPr>
        </p:nvSpPr>
        <p:spPr/>
        <p:txBody>
          <a:bodyPr/>
          <a:lstStyle/>
          <a:p>
            <a:fld id="{3650BF04-03E3-41E2-8841-39A06CEE4854}" type="datetimeFigureOut">
              <a:rPr lang="fr-FR" smtClean="0"/>
              <a:t>13/11/2024</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63720448-9039-4596-8998-72C2BC1B09EB}" type="slidenum">
              <a:rPr lang="fr-FR" smtClean="0"/>
              <a:t>‹N°›</a:t>
            </a:fld>
            <a:endParaRPr lang="fr-FR"/>
          </a:p>
        </p:txBody>
      </p:sp>
    </p:spTree>
    <p:extLst>
      <p:ext uri="{BB962C8B-B14F-4D97-AF65-F5344CB8AC3E}">
        <p14:creationId xmlns:p14="http://schemas.microsoft.com/office/powerpoint/2010/main" val="3043009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idx="1"/>
          </p:nvPr>
        </p:nvSpPr>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3650BF04-03E3-41E2-8841-39A06CEE4854}" type="datetimeFigureOut">
              <a:rPr lang="fr-FR" smtClean="0"/>
              <a:t>13/11/2024</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63720448-9039-4596-8998-72C2BC1B09EB}" type="slidenum">
              <a:rPr lang="fr-FR" smtClean="0"/>
              <a:t>‹N°›</a:t>
            </a:fld>
            <a:endParaRPr lang="fr-FR"/>
          </a:p>
        </p:txBody>
      </p:sp>
    </p:spTree>
    <p:extLst>
      <p:ext uri="{BB962C8B-B14F-4D97-AF65-F5344CB8AC3E}">
        <p14:creationId xmlns:p14="http://schemas.microsoft.com/office/powerpoint/2010/main" val="42373457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722313" y="4406900"/>
            <a:ext cx="7772400" cy="1362075"/>
          </a:xfrm>
        </p:spPr>
        <p:txBody>
          <a:bodyPr anchor="t"/>
          <a:lstStyle>
            <a:lvl1pPr algn="l">
              <a:defRPr sz="4000" b="1" cap="all"/>
            </a:lvl1pPr>
          </a:lstStyle>
          <a:p>
            <a:r>
              <a:rPr lang="fr-FR"/>
              <a:t>Modifiez le style du titre</a:t>
            </a:r>
          </a:p>
        </p:txBody>
      </p:sp>
      <p:sp>
        <p:nvSpPr>
          <p:cNvPr id="3" name="Espace réservé du texte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Modifiez les styles du texte du masque</a:t>
            </a:r>
          </a:p>
        </p:txBody>
      </p:sp>
      <p:sp>
        <p:nvSpPr>
          <p:cNvPr id="4" name="Espace réservé de la date 3"/>
          <p:cNvSpPr>
            <a:spLocks noGrp="1"/>
          </p:cNvSpPr>
          <p:nvPr>
            <p:ph type="dt" sz="half" idx="10"/>
          </p:nvPr>
        </p:nvSpPr>
        <p:spPr/>
        <p:txBody>
          <a:bodyPr/>
          <a:lstStyle/>
          <a:p>
            <a:fld id="{3650BF04-03E3-41E2-8841-39A06CEE4854}" type="datetimeFigureOut">
              <a:rPr lang="fr-FR" smtClean="0"/>
              <a:t>13/11/2024</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63720448-9039-4596-8998-72C2BC1B09EB}" type="slidenum">
              <a:rPr lang="fr-FR" smtClean="0"/>
              <a:t>‹N°›</a:t>
            </a:fld>
            <a:endParaRPr lang="fr-FR"/>
          </a:p>
        </p:txBody>
      </p:sp>
    </p:spTree>
    <p:extLst>
      <p:ext uri="{BB962C8B-B14F-4D97-AF65-F5344CB8AC3E}">
        <p14:creationId xmlns:p14="http://schemas.microsoft.com/office/powerpoint/2010/main" val="2557156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p:cNvSpPr>
            <a:spLocks noGrp="1"/>
          </p:cNvSpPr>
          <p:nvPr>
            <p:ph type="dt" sz="half" idx="10"/>
          </p:nvPr>
        </p:nvSpPr>
        <p:spPr/>
        <p:txBody>
          <a:bodyPr/>
          <a:lstStyle/>
          <a:p>
            <a:fld id="{3650BF04-03E3-41E2-8841-39A06CEE4854}" type="datetimeFigureOut">
              <a:rPr lang="fr-FR" smtClean="0"/>
              <a:t>13/11/2024</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63720448-9039-4596-8998-72C2BC1B09EB}" type="slidenum">
              <a:rPr lang="fr-FR" smtClean="0"/>
              <a:t>‹N°›</a:t>
            </a:fld>
            <a:endParaRPr lang="fr-FR"/>
          </a:p>
        </p:txBody>
      </p:sp>
    </p:spTree>
    <p:extLst>
      <p:ext uri="{BB962C8B-B14F-4D97-AF65-F5344CB8AC3E}">
        <p14:creationId xmlns:p14="http://schemas.microsoft.com/office/powerpoint/2010/main" val="30612657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lvl1pPr>
              <a:defRPr/>
            </a:lvl1pPr>
          </a:lstStyle>
          <a:p>
            <a:r>
              <a:rPr lang="fr-FR"/>
              <a:t>Modifiez le style du titre</a:t>
            </a:r>
          </a:p>
        </p:txBody>
      </p:sp>
      <p:sp>
        <p:nvSpPr>
          <p:cNvPr id="3" name="Espace réservé du texte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4" name="Espace réservé du conten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6" name="Espace réservé du conten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p:cNvSpPr>
            <a:spLocks noGrp="1"/>
          </p:cNvSpPr>
          <p:nvPr>
            <p:ph type="dt" sz="half" idx="10"/>
          </p:nvPr>
        </p:nvSpPr>
        <p:spPr/>
        <p:txBody>
          <a:bodyPr/>
          <a:lstStyle/>
          <a:p>
            <a:fld id="{3650BF04-03E3-41E2-8841-39A06CEE4854}" type="datetimeFigureOut">
              <a:rPr lang="fr-FR" smtClean="0"/>
              <a:t>13/11/2024</a:t>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63720448-9039-4596-8998-72C2BC1B09EB}" type="slidenum">
              <a:rPr lang="fr-FR" smtClean="0"/>
              <a:t>‹N°›</a:t>
            </a:fld>
            <a:endParaRPr lang="fr-FR"/>
          </a:p>
        </p:txBody>
      </p:sp>
    </p:spTree>
    <p:extLst>
      <p:ext uri="{BB962C8B-B14F-4D97-AF65-F5344CB8AC3E}">
        <p14:creationId xmlns:p14="http://schemas.microsoft.com/office/powerpoint/2010/main" val="3503487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e la date 2"/>
          <p:cNvSpPr>
            <a:spLocks noGrp="1"/>
          </p:cNvSpPr>
          <p:nvPr>
            <p:ph type="dt" sz="half" idx="10"/>
          </p:nvPr>
        </p:nvSpPr>
        <p:spPr/>
        <p:txBody>
          <a:bodyPr/>
          <a:lstStyle/>
          <a:p>
            <a:fld id="{3650BF04-03E3-41E2-8841-39A06CEE4854}" type="datetimeFigureOut">
              <a:rPr lang="fr-FR" smtClean="0"/>
              <a:t>13/11/2024</a:t>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63720448-9039-4596-8998-72C2BC1B09EB}" type="slidenum">
              <a:rPr lang="fr-FR" smtClean="0"/>
              <a:t>‹N°›</a:t>
            </a:fld>
            <a:endParaRPr lang="fr-FR"/>
          </a:p>
        </p:txBody>
      </p:sp>
    </p:spTree>
    <p:extLst>
      <p:ext uri="{BB962C8B-B14F-4D97-AF65-F5344CB8AC3E}">
        <p14:creationId xmlns:p14="http://schemas.microsoft.com/office/powerpoint/2010/main" val="14767957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3650BF04-03E3-41E2-8841-39A06CEE4854}" type="datetimeFigureOut">
              <a:rPr lang="fr-FR" smtClean="0"/>
              <a:t>13/11/2024</a:t>
            </a:fld>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63720448-9039-4596-8998-72C2BC1B09EB}" type="slidenum">
              <a:rPr lang="fr-FR" smtClean="0"/>
              <a:t>‹N°›</a:t>
            </a:fld>
            <a:endParaRPr lang="fr-FR"/>
          </a:p>
        </p:txBody>
      </p:sp>
    </p:spTree>
    <p:extLst>
      <p:ext uri="{BB962C8B-B14F-4D97-AF65-F5344CB8AC3E}">
        <p14:creationId xmlns:p14="http://schemas.microsoft.com/office/powerpoint/2010/main" val="6224163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3008313" cy="1162050"/>
          </a:xfrm>
        </p:spPr>
        <p:txBody>
          <a:bodyPr anchor="b"/>
          <a:lstStyle>
            <a:lvl1pPr algn="l">
              <a:defRPr sz="2000" b="1"/>
            </a:lvl1pPr>
          </a:lstStyle>
          <a:p>
            <a:r>
              <a:rPr lang="fr-FR"/>
              <a:t>Modifiez le style du titre</a:t>
            </a:r>
          </a:p>
        </p:txBody>
      </p:sp>
      <p:sp>
        <p:nvSpPr>
          <p:cNvPr id="3" name="Espace réservé du conten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Modifiez les styles du texte du masque</a:t>
            </a:r>
          </a:p>
        </p:txBody>
      </p:sp>
      <p:sp>
        <p:nvSpPr>
          <p:cNvPr id="5" name="Espace réservé de la date 4"/>
          <p:cNvSpPr>
            <a:spLocks noGrp="1"/>
          </p:cNvSpPr>
          <p:nvPr>
            <p:ph type="dt" sz="half" idx="10"/>
          </p:nvPr>
        </p:nvSpPr>
        <p:spPr/>
        <p:txBody>
          <a:bodyPr/>
          <a:lstStyle/>
          <a:p>
            <a:fld id="{3650BF04-03E3-41E2-8841-39A06CEE4854}" type="datetimeFigureOut">
              <a:rPr lang="fr-FR" smtClean="0"/>
              <a:t>13/11/2024</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63720448-9039-4596-8998-72C2BC1B09EB}" type="slidenum">
              <a:rPr lang="fr-FR" smtClean="0"/>
              <a:t>‹N°›</a:t>
            </a:fld>
            <a:endParaRPr lang="fr-FR"/>
          </a:p>
        </p:txBody>
      </p:sp>
    </p:spTree>
    <p:extLst>
      <p:ext uri="{BB962C8B-B14F-4D97-AF65-F5344CB8AC3E}">
        <p14:creationId xmlns:p14="http://schemas.microsoft.com/office/powerpoint/2010/main" val="26557144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4800600"/>
            <a:ext cx="5486400" cy="566738"/>
          </a:xfrm>
        </p:spPr>
        <p:txBody>
          <a:bodyPr anchor="b"/>
          <a:lstStyle>
            <a:lvl1pPr algn="l">
              <a:defRPr sz="2000" b="1"/>
            </a:lvl1pPr>
          </a:lstStyle>
          <a:p>
            <a:r>
              <a:rPr lang="fr-FR"/>
              <a:t>Modifiez le style du titre</a:t>
            </a:r>
          </a:p>
        </p:txBody>
      </p:sp>
      <p:sp>
        <p:nvSpPr>
          <p:cNvPr id="3" name="Espace réservé pour une imag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Modifiez les styles du texte du masque</a:t>
            </a:r>
          </a:p>
        </p:txBody>
      </p:sp>
      <p:sp>
        <p:nvSpPr>
          <p:cNvPr id="5" name="Espace réservé de la date 4"/>
          <p:cNvSpPr>
            <a:spLocks noGrp="1"/>
          </p:cNvSpPr>
          <p:nvPr>
            <p:ph type="dt" sz="half" idx="10"/>
          </p:nvPr>
        </p:nvSpPr>
        <p:spPr/>
        <p:txBody>
          <a:bodyPr/>
          <a:lstStyle/>
          <a:p>
            <a:fld id="{3650BF04-03E3-41E2-8841-39A06CEE4854}" type="datetimeFigureOut">
              <a:rPr lang="fr-FR" smtClean="0"/>
              <a:t>13/11/2024</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63720448-9039-4596-8998-72C2BC1B09EB}" type="slidenum">
              <a:rPr lang="fr-FR" smtClean="0"/>
              <a:t>‹N°›</a:t>
            </a:fld>
            <a:endParaRPr lang="fr-FR"/>
          </a:p>
        </p:txBody>
      </p:sp>
    </p:spTree>
    <p:extLst>
      <p:ext uri="{BB962C8B-B14F-4D97-AF65-F5344CB8AC3E}">
        <p14:creationId xmlns:p14="http://schemas.microsoft.com/office/powerpoint/2010/main" val="3740232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texte vertical 2"/>
          <p:cNvSpPr>
            <a:spLocks noGrp="1"/>
          </p:cNvSpPr>
          <p:nvPr>
            <p:ph type="body" orient="vert" idx="1"/>
          </p:nvPr>
        </p:nvSpPr>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3650BF04-03E3-41E2-8841-39A06CEE4854}" type="datetimeFigureOut">
              <a:rPr lang="fr-FR" smtClean="0"/>
              <a:t>13/11/2024</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63720448-9039-4596-8998-72C2BC1B09EB}" type="slidenum">
              <a:rPr lang="fr-FR" smtClean="0"/>
              <a:t>‹N°›</a:t>
            </a:fld>
            <a:endParaRPr lang="fr-FR"/>
          </a:p>
        </p:txBody>
      </p:sp>
    </p:spTree>
    <p:extLst>
      <p:ext uri="{BB962C8B-B14F-4D97-AF65-F5344CB8AC3E}">
        <p14:creationId xmlns:p14="http://schemas.microsoft.com/office/powerpoint/2010/main" val="34605241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629400" y="274638"/>
            <a:ext cx="2057400" cy="5851525"/>
          </a:xfrm>
        </p:spPr>
        <p:txBody>
          <a:bodyPr vert="eaVert"/>
          <a:lstStyle/>
          <a:p>
            <a:r>
              <a:rPr lang="fr-FR"/>
              <a:t>Modifiez le style du titre</a:t>
            </a:r>
          </a:p>
        </p:txBody>
      </p:sp>
      <p:sp>
        <p:nvSpPr>
          <p:cNvPr id="3" name="Espace réservé du texte vertical 2"/>
          <p:cNvSpPr>
            <a:spLocks noGrp="1"/>
          </p:cNvSpPr>
          <p:nvPr>
            <p:ph type="body" orient="vert" idx="1"/>
          </p:nvPr>
        </p:nvSpPr>
        <p:spPr>
          <a:xfrm>
            <a:off x="457200" y="274638"/>
            <a:ext cx="6019800" cy="5851525"/>
          </a:xfrm>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3650BF04-03E3-41E2-8841-39A06CEE4854}" type="datetimeFigureOut">
              <a:rPr lang="fr-FR" smtClean="0"/>
              <a:t>13/11/2024</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63720448-9039-4596-8998-72C2BC1B09EB}" type="slidenum">
              <a:rPr lang="fr-FR" smtClean="0"/>
              <a:t>‹N°›</a:t>
            </a:fld>
            <a:endParaRPr lang="fr-FR"/>
          </a:p>
        </p:txBody>
      </p:sp>
    </p:spTree>
    <p:extLst>
      <p:ext uri="{BB962C8B-B14F-4D97-AF65-F5344CB8AC3E}">
        <p14:creationId xmlns:p14="http://schemas.microsoft.com/office/powerpoint/2010/main" val="13535793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tx2">
                <a:lumMod val="60000"/>
                <a:lumOff val="40000"/>
              </a:schemeClr>
            </a:gs>
            <a:gs pos="40000">
              <a:schemeClr val="bg1">
                <a:tint val="45000"/>
                <a:shade val="99000"/>
                <a:satMod val="350000"/>
              </a:schemeClr>
            </a:gs>
            <a:gs pos="100000">
              <a:schemeClr val="bg1">
                <a:shade val="20000"/>
                <a:satMod val="255000"/>
              </a:scheme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650BF04-03E3-41E2-8841-39A06CEE4854}" type="datetimeFigureOut">
              <a:rPr lang="fr-FR" smtClean="0"/>
              <a:t>13/11/2024</a:t>
            </a:fld>
            <a:endParaRPr lang="fr-FR"/>
          </a:p>
        </p:txBody>
      </p:sp>
      <p:sp>
        <p:nvSpPr>
          <p:cNvPr id="5" name="Espace réservé du pied de page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3720448-9039-4596-8998-72C2BC1B09EB}" type="slidenum">
              <a:rPr lang="fr-FR" smtClean="0"/>
              <a:t>‹N°›</a:t>
            </a:fld>
            <a:endParaRPr lang="fr-FR"/>
          </a:p>
        </p:txBody>
      </p:sp>
    </p:spTree>
    <p:extLst>
      <p:ext uri="{BB962C8B-B14F-4D97-AF65-F5344CB8AC3E}">
        <p14:creationId xmlns:p14="http://schemas.microsoft.com/office/powerpoint/2010/main" val="3398666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 Id="rId5" Type="http://schemas.microsoft.com/office/2007/relationships/hdphoto" Target="../media/hdphoto1.wdp"/><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tx2">
                <a:lumMod val="60000"/>
                <a:lumOff val="40000"/>
              </a:schemeClr>
            </a:gs>
            <a:gs pos="100000">
              <a:schemeClr val="bg1">
                <a:tint val="45000"/>
                <a:shade val="99000"/>
                <a:satMod val="350000"/>
              </a:schemeClr>
            </a:gs>
            <a:gs pos="100000">
              <a:schemeClr val="bg1">
                <a:shade val="20000"/>
                <a:satMod val="255000"/>
              </a:schemeClr>
            </a:gs>
          </a:gsLst>
          <a:path path="circle">
            <a:fillToRect l="50000" t="50000" r="50000" b="50000"/>
          </a:path>
          <a:tileRect/>
        </a:gradFill>
        <a:effectLst/>
      </p:bgPr>
    </p:bg>
    <p:spTree>
      <p:nvGrpSpPr>
        <p:cNvPr id="1" name=""/>
        <p:cNvGrpSpPr/>
        <p:nvPr/>
      </p:nvGrpSpPr>
      <p:grpSpPr>
        <a:xfrm>
          <a:off x="0" y="0"/>
          <a:ext cx="0" cy="0"/>
          <a:chOff x="0" y="0"/>
          <a:chExt cx="0" cy="0"/>
        </a:xfrm>
      </p:grpSpPr>
      <p:pic>
        <p:nvPicPr>
          <p:cNvPr id="6" name="Imag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2057400"/>
            <a:ext cx="9144000" cy="4800600"/>
          </a:xfrm>
          <a:prstGeom prst="rect">
            <a:avLst/>
          </a:prstGeom>
          <a:effectLst/>
        </p:spPr>
      </p:pic>
      <p:sp>
        <p:nvSpPr>
          <p:cNvPr id="2" name="Titre 1"/>
          <p:cNvSpPr>
            <a:spLocks noGrp="1"/>
          </p:cNvSpPr>
          <p:nvPr>
            <p:ph type="ctrTitle"/>
          </p:nvPr>
        </p:nvSpPr>
        <p:spPr>
          <a:xfrm>
            <a:off x="0" y="1219200"/>
            <a:ext cx="7391400" cy="1295400"/>
          </a:xfrm>
          <a:prstGeom prst="round1Rect">
            <a:avLst/>
          </a:prstGeom>
          <a:solidFill>
            <a:schemeClr val="accent1">
              <a:lumMod val="75000"/>
            </a:schemeClr>
          </a:solidFill>
          <a:ln>
            <a:noFill/>
          </a:ln>
          <a:effectLst>
            <a:softEdge rad="12700"/>
          </a:effectLst>
          <a:scene3d>
            <a:camera prst="orthographicFront"/>
            <a:lightRig rig="threePt" dir="t"/>
          </a:scene3d>
          <a:sp3d>
            <a:bevelT/>
          </a:sp3d>
        </p:spPr>
        <p:style>
          <a:lnRef idx="2">
            <a:schemeClr val="accent1"/>
          </a:lnRef>
          <a:fillRef idx="1">
            <a:schemeClr val="lt1"/>
          </a:fillRef>
          <a:effectRef idx="0">
            <a:schemeClr val="accent1"/>
          </a:effectRef>
          <a:fontRef idx="minor">
            <a:schemeClr val="dk1"/>
          </a:fontRef>
        </p:style>
        <p:txBody>
          <a:bodyPr>
            <a:noAutofit/>
          </a:bodyPr>
          <a:lstStyle/>
          <a:p>
            <a:r>
              <a:rPr lang="fr-FR" sz="3600" dirty="0">
                <a:solidFill>
                  <a:schemeClr val="bg1"/>
                </a:solidFill>
                <a:effectLst>
                  <a:outerShdw blurRad="38100" dist="38100" dir="2700000" algn="tl">
                    <a:srgbClr val="000000">
                      <a:alpha val="43137"/>
                    </a:srgbClr>
                  </a:outerShdw>
                </a:effectLst>
                <a:latin typeface="Bahnschrift SemiBold" pitchFamily="34" charset="0"/>
              </a:rPr>
              <a:t>Système d'Identification et de Suivi </a:t>
            </a:r>
            <a:r>
              <a:rPr lang="fr-FR" sz="3600" dirty="0" smtClean="0">
                <a:solidFill>
                  <a:schemeClr val="bg1"/>
                </a:solidFill>
                <a:effectLst>
                  <a:outerShdw blurRad="38100" dist="38100" dir="2700000" algn="tl">
                    <a:srgbClr val="000000">
                      <a:alpha val="43137"/>
                    </a:srgbClr>
                  </a:outerShdw>
                </a:effectLst>
                <a:latin typeface="Bahnschrift SemiBold" pitchFamily="34" charset="0"/>
              </a:rPr>
              <a:t>des </a:t>
            </a:r>
            <a:r>
              <a:rPr lang="fr-FR" sz="3600" dirty="0">
                <a:solidFill>
                  <a:schemeClr val="bg1"/>
                </a:solidFill>
                <a:effectLst>
                  <a:outerShdw blurRad="38100" dist="38100" dir="2700000" algn="tl">
                    <a:srgbClr val="000000">
                      <a:alpha val="43137"/>
                    </a:srgbClr>
                  </a:outerShdw>
                </a:effectLst>
                <a:latin typeface="Bahnschrift SemiBold" pitchFamily="34" charset="0"/>
              </a:rPr>
              <a:t>marchandises</a:t>
            </a:r>
            <a:r>
              <a:rPr lang="fr-FR" sz="3600" dirty="0" smtClean="0">
                <a:solidFill>
                  <a:schemeClr val="bg1"/>
                </a:solidFill>
                <a:effectLst>
                  <a:outerShdw blurRad="38100" dist="38100" dir="2700000" algn="tl">
                    <a:srgbClr val="000000">
                      <a:alpha val="43137"/>
                    </a:srgbClr>
                  </a:outerShdw>
                </a:effectLst>
                <a:latin typeface="Bahnschrift SemiBold" pitchFamily="34" charset="0"/>
              </a:rPr>
              <a:t> </a:t>
            </a:r>
            <a:r>
              <a:rPr lang="fr-FR" sz="3600" dirty="0">
                <a:solidFill>
                  <a:schemeClr val="bg1"/>
                </a:solidFill>
                <a:effectLst>
                  <a:outerShdw blurRad="38100" dist="38100" dir="2700000" algn="tl">
                    <a:srgbClr val="000000">
                      <a:alpha val="43137"/>
                    </a:srgbClr>
                  </a:outerShdw>
                </a:effectLst>
                <a:latin typeface="Bahnschrift SemiBold" pitchFamily="34" charset="0"/>
              </a:rPr>
              <a:t>par RFID</a:t>
            </a:r>
          </a:p>
        </p:txBody>
      </p:sp>
      <p:pic>
        <p:nvPicPr>
          <p:cNvPr id="1026" name="Picture 2" descr="Usthb Visualisation"/>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0"/>
            <a:ext cx="1143000" cy="11430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Faculté de Génie Électrique - USTHB | Bab Ezzouar"/>
          <p:cNvPicPr>
            <a:picLocks noChangeAspect="1" noChangeArrowheads="1"/>
          </p:cNvPicPr>
          <p:nvPr/>
        </p:nvPicPr>
        <p:blipFill>
          <a:blip r:embed="rId4" cstate="print">
            <a:extLst>
              <a:ext uri="{BEBA8EAE-BF5A-486C-A8C5-ECC9F3942E4B}">
                <a14:imgProps xmlns:a14="http://schemas.microsoft.com/office/drawing/2010/main">
                  <a14:imgLayer r:embed="rId5">
                    <a14:imgEffect>
                      <a14:backgroundRemoval t="0" b="98523" l="0" r="100000">
                        <a14:backgroundMark x1="13713" y1="10127" x2="13713" y2="10127"/>
                        <a14:backgroundMark x1="6540" y1="80802" x2="6540" y2="80802"/>
                        <a14:backgroundMark x1="88608" y1="85443" x2="88608" y2="85443"/>
                        <a14:backgroundMark x1="91350" y1="14979" x2="91350" y2="14979"/>
                      </a14:backgroundRemoval>
                    </a14:imgEffect>
                  </a14:imgLayer>
                </a14:imgProps>
              </a:ext>
              <a:ext uri="{28A0092B-C50C-407E-A947-70E740481C1C}">
                <a14:useLocalDpi xmlns:a14="http://schemas.microsoft.com/office/drawing/2010/main" val="0"/>
              </a:ext>
            </a:extLst>
          </a:blip>
          <a:srcRect/>
          <a:stretch>
            <a:fillRect/>
          </a:stretch>
        </p:blipFill>
        <p:spPr bwMode="auto">
          <a:xfrm>
            <a:off x="7696200" y="31375"/>
            <a:ext cx="1439956" cy="1309051"/>
          </a:xfrm>
          <a:prstGeom prst="rect">
            <a:avLst/>
          </a:prstGeom>
          <a:noFill/>
          <a:extLst>
            <a:ext uri="{909E8E84-426E-40DD-AFC4-6F175D3DCCD1}">
              <a14:hiddenFill xmlns:a14="http://schemas.microsoft.com/office/drawing/2010/main">
                <a:solidFill>
                  <a:srgbClr val="FFFFFF"/>
                </a:solidFill>
              </a14:hiddenFill>
            </a:ext>
          </a:extLst>
        </p:spPr>
      </p:pic>
      <p:sp>
        <p:nvSpPr>
          <p:cNvPr id="7" name="ZoneTexte 6"/>
          <p:cNvSpPr txBox="1"/>
          <p:nvPr/>
        </p:nvSpPr>
        <p:spPr>
          <a:xfrm>
            <a:off x="2438400" y="63668"/>
            <a:ext cx="3581401" cy="1015663"/>
          </a:xfrm>
          <a:prstGeom prst="rect">
            <a:avLst/>
          </a:prstGeom>
          <a:solidFill>
            <a:schemeClr val="accent1">
              <a:lumMod val="40000"/>
              <a:lumOff val="60000"/>
            </a:schemeClr>
          </a:solidFill>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fr-FR" sz="2000" dirty="0">
                <a:latin typeface="Bahnschrift SemiBold" pitchFamily="34" charset="0"/>
              </a:rPr>
              <a:t>Département </a:t>
            </a:r>
            <a:r>
              <a:rPr lang="fr-FR" sz="2000" dirty="0" smtClean="0">
                <a:latin typeface="Bahnschrift SemiBold" pitchFamily="34" charset="0"/>
              </a:rPr>
              <a:t>électronique</a:t>
            </a:r>
            <a:endParaRPr lang="fr-FR" sz="2000" dirty="0">
              <a:latin typeface="Bahnschrift SemiBold" pitchFamily="34" charset="0"/>
            </a:endParaRPr>
          </a:p>
          <a:p>
            <a:pPr algn="ctr"/>
            <a:r>
              <a:rPr lang="fr-FR" sz="2000" dirty="0">
                <a:latin typeface="Bahnschrift SemiBold" pitchFamily="34" charset="0"/>
              </a:rPr>
              <a:t>Électronique des systèmes embarqués</a:t>
            </a:r>
          </a:p>
        </p:txBody>
      </p:sp>
    </p:spTree>
    <p:extLst>
      <p:ext uri="{BB962C8B-B14F-4D97-AF65-F5344CB8AC3E}">
        <p14:creationId xmlns:p14="http://schemas.microsoft.com/office/powerpoint/2010/main" val="412845433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tx2">
                <a:lumMod val="60000"/>
                <a:lumOff val="40000"/>
              </a:schemeClr>
            </a:gs>
            <a:gs pos="80000">
              <a:schemeClr val="bg1">
                <a:tint val="45000"/>
                <a:shade val="99000"/>
                <a:satMod val="350000"/>
              </a:schemeClr>
            </a:gs>
            <a:gs pos="100000">
              <a:schemeClr val="bg1">
                <a:shade val="20000"/>
                <a:satMod val="255000"/>
              </a:schemeClr>
            </a:gs>
          </a:gsLst>
          <a:path path="circle">
            <a:fillToRect t="100000" r="100000"/>
          </a:path>
          <a:tileRect l="-100000" b="-100000"/>
        </a:gra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a:xfrm>
            <a:off x="0" y="0"/>
            <a:ext cx="9144000" cy="731520"/>
          </a:xfrm>
          <a:solidFill>
            <a:schemeClr val="accent1">
              <a:lumMod val="75000"/>
            </a:schemeClr>
          </a:solidFill>
          <a:scene3d>
            <a:camera prst="orthographicFront"/>
            <a:lightRig rig="threePt" dir="t"/>
          </a:scene3d>
          <a:sp3d>
            <a:bevelT/>
          </a:sp3d>
        </p:spPr>
        <p:txBody>
          <a:bodyPr>
            <a:normAutofit/>
          </a:bodyPr>
          <a:lstStyle/>
          <a:p>
            <a:pPr algn="l"/>
            <a:r>
              <a:rPr lang="fr-FR" sz="4000" dirty="0">
                <a:solidFill>
                  <a:schemeClr val="bg1"/>
                </a:solidFill>
                <a:effectLst>
                  <a:outerShdw blurRad="38100" dist="38100" dir="2700000" algn="tl">
                    <a:srgbClr val="000000">
                      <a:alpha val="43137"/>
                    </a:srgbClr>
                  </a:outerShdw>
                </a:effectLst>
                <a:latin typeface="Bahnschrift SemiBold" pitchFamily="34" charset="0"/>
              </a:rPr>
              <a:t>Table</a:t>
            </a:r>
            <a:r>
              <a:rPr lang="fr-FR" sz="3200" dirty="0">
                <a:solidFill>
                  <a:schemeClr val="bg1"/>
                </a:solidFill>
                <a:effectLst>
                  <a:outerShdw blurRad="38100" dist="38100" dir="2700000" algn="tl">
                    <a:srgbClr val="000000">
                      <a:alpha val="43137"/>
                    </a:srgbClr>
                  </a:outerShdw>
                </a:effectLst>
                <a:latin typeface="Bahnschrift SemiBold" pitchFamily="34" charset="0"/>
              </a:rPr>
              <a:t> </a:t>
            </a:r>
            <a:r>
              <a:rPr lang="fr-FR" sz="4000" dirty="0">
                <a:solidFill>
                  <a:schemeClr val="bg1"/>
                </a:solidFill>
                <a:effectLst>
                  <a:outerShdw blurRad="38100" dist="38100" dir="2700000" algn="tl">
                    <a:srgbClr val="000000">
                      <a:alpha val="43137"/>
                    </a:srgbClr>
                  </a:outerShdw>
                </a:effectLst>
                <a:latin typeface="Bahnschrift SemiBold" pitchFamily="34" charset="0"/>
              </a:rPr>
              <a:t>des matières</a:t>
            </a:r>
            <a:endParaRPr lang="fr-FR" sz="3200" dirty="0">
              <a:solidFill>
                <a:schemeClr val="bg1"/>
              </a:solidFill>
              <a:effectLst>
                <a:outerShdw blurRad="38100" dist="38100" dir="2700000" algn="tl">
                  <a:srgbClr val="000000">
                    <a:alpha val="43137"/>
                  </a:srgbClr>
                </a:outerShdw>
              </a:effectLst>
              <a:latin typeface="Bahnschrift SemiBold" pitchFamily="34" charset="0"/>
            </a:endParaRPr>
          </a:p>
        </p:txBody>
      </p:sp>
      <p:sp>
        <p:nvSpPr>
          <p:cNvPr id="3" name="Espace réservé du contenu 2"/>
          <p:cNvSpPr>
            <a:spLocks noGrp="1"/>
          </p:cNvSpPr>
          <p:nvPr>
            <p:ph idx="1"/>
          </p:nvPr>
        </p:nvSpPr>
        <p:spPr>
          <a:xfrm>
            <a:off x="152400" y="838200"/>
            <a:ext cx="8610600" cy="5867400"/>
          </a:xfrm>
          <a:noFill/>
          <a:ln w="57150"/>
        </p:spPr>
        <p:style>
          <a:lnRef idx="2">
            <a:schemeClr val="dk1"/>
          </a:lnRef>
          <a:fillRef idx="1">
            <a:schemeClr val="lt1"/>
          </a:fillRef>
          <a:effectRef idx="0">
            <a:schemeClr val="dk1"/>
          </a:effectRef>
          <a:fontRef idx="minor">
            <a:schemeClr val="dk1"/>
          </a:fontRef>
        </p:style>
        <p:txBody>
          <a:bodyPr anchor="ctr">
            <a:normAutofit fontScale="92500" lnSpcReduction="20000"/>
          </a:bodyPr>
          <a:lstStyle/>
          <a:p>
            <a:pPr marL="0" indent="0">
              <a:buNone/>
            </a:pPr>
            <a:r>
              <a:rPr lang="fr-FR" sz="2600" u="sng" dirty="0">
                <a:effectLst>
                  <a:outerShdw blurRad="38100" dist="38100" dir="2700000" algn="tl">
                    <a:srgbClr val="000000">
                      <a:alpha val="43137"/>
                    </a:srgbClr>
                  </a:outerShdw>
                </a:effectLst>
                <a:latin typeface="Bahnschrift SemiBold" pitchFamily="34" charset="0"/>
              </a:rPr>
              <a:t>1. Introduction</a:t>
            </a:r>
          </a:p>
          <a:p>
            <a:pPr marL="0" indent="0">
              <a:buNone/>
            </a:pPr>
            <a:r>
              <a:rPr lang="fr-FR" sz="2600" dirty="0">
                <a:latin typeface="Bahnschrift SemiBold" pitchFamily="34" charset="0"/>
              </a:rPr>
              <a:t>- Présentation du projet </a:t>
            </a:r>
          </a:p>
          <a:p>
            <a:pPr marL="0" indent="0">
              <a:buNone/>
            </a:pPr>
            <a:r>
              <a:rPr lang="fr-FR" sz="2600" dirty="0">
                <a:latin typeface="Bahnschrift SemiBold" pitchFamily="34" charset="0"/>
              </a:rPr>
              <a:t>- Objectifs du système RFID pour le suivi de cargaisons </a:t>
            </a:r>
          </a:p>
          <a:p>
            <a:pPr marL="0" indent="0">
              <a:buNone/>
            </a:pPr>
            <a:r>
              <a:rPr lang="fr-FR" sz="2600" u="sng" dirty="0" smtClean="0">
                <a:effectLst>
                  <a:outerShdw blurRad="38100" dist="38100" dir="2700000" algn="tl">
                    <a:srgbClr val="000000">
                      <a:alpha val="43137"/>
                    </a:srgbClr>
                  </a:outerShdw>
                </a:effectLst>
                <a:latin typeface="Bahnschrift SemiBold" pitchFamily="34" charset="0"/>
              </a:rPr>
              <a:t>2. Composants du système </a:t>
            </a:r>
          </a:p>
          <a:p>
            <a:pPr marL="0" indent="0">
              <a:buNone/>
            </a:pPr>
            <a:r>
              <a:rPr lang="fr-FR" sz="2600" dirty="0" smtClean="0">
                <a:latin typeface="Bahnschrift SemiBold" pitchFamily="34" charset="0"/>
              </a:rPr>
              <a:t>- </a:t>
            </a:r>
            <a:r>
              <a:rPr lang="fr-FR" sz="2600" dirty="0">
                <a:latin typeface="Bahnschrift SemiBold" pitchFamily="34" charset="0"/>
              </a:rPr>
              <a:t>Arduino </a:t>
            </a:r>
          </a:p>
          <a:p>
            <a:pPr marL="0" indent="0">
              <a:buNone/>
            </a:pPr>
            <a:r>
              <a:rPr lang="fr-FR" sz="2600" dirty="0">
                <a:latin typeface="Bahnschrift SemiBold" pitchFamily="34" charset="0"/>
              </a:rPr>
              <a:t>- Module </a:t>
            </a:r>
            <a:r>
              <a:rPr lang="fr-FR" sz="2600" dirty="0" smtClean="0">
                <a:latin typeface="Bahnschrift SemiBold" pitchFamily="34" charset="0"/>
              </a:rPr>
              <a:t>RFID-RC522</a:t>
            </a:r>
            <a:endParaRPr lang="fr-FR" sz="2600" dirty="0">
              <a:latin typeface="Bahnschrift SemiBold" pitchFamily="34" charset="0"/>
            </a:endParaRPr>
          </a:p>
          <a:p>
            <a:pPr marL="0" indent="0">
              <a:buNone/>
            </a:pPr>
            <a:r>
              <a:rPr lang="fr-FR" sz="2600" dirty="0">
                <a:latin typeface="Bahnschrift SemiBold" pitchFamily="34" charset="0"/>
              </a:rPr>
              <a:t>- Capteurs et actionneurs </a:t>
            </a:r>
          </a:p>
          <a:p>
            <a:pPr marL="0" indent="0">
              <a:buNone/>
            </a:pPr>
            <a:r>
              <a:rPr lang="fr-FR" sz="2600" dirty="0">
                <a:latin typeface="Bahnschrift SemiBold" pitchFamily="34" charset="0"/>
              </a:rPr>
              <a:t>- Architecture globale </a:t>
            </a:r>
          </a:p>
          <a:p>
            <a:pPr marL="0" indent="0">
              <a:buNone/>
            </a:pPr>
            <a:r>
              <a:rPr lang="fr-FR" sz="2600" u="sng" dirty="0">
                <a:effectLst>
                  <a:outerShdw blurRad="38100" dist="38100" dir="2700000" algn="tl">
                    <a:srgbClr val="000000">
                      <a:alpha val="43137"/>
                    </a:srgbClr>
                  </a:outerShdw>
                </a:effectLst>
                <a:latin typeface="Bahnschrift SemiBold" pitchFamily="34" charset="0"/>
              </a:rPr>
              <a:t>3. Fonctionnement du système</a:t>
            </a:r>
          </a:p>
          <a:p>
            <a:pPr marL="0" indent="0">
              <a:buNone/>
            </a:pPr>
            <a:r>
              <a:rPr lang="fr-FR" sz="2600" dirty="0" smtClean="0">
                <a:latin typeface="Bahnschrift SemiBold" pitchFamily="34" charset="0"/>
              </a:rPr>
              <a:t>- Identification </a:t>
            </a:r>
            <a:r>
              <a:rPr lang="fr-FR" sz="2600" dirty="0">
                <a:latin typeface="Bahnschrift SemiBold" pitchFamily="34" charset="0"/>
              </a:rPr>
              <a:t>des colis par RFID </a:t>
            </a:r>
            <a:endParaRPr lang="fr-FR" sz="2600" dirty="0" smtClean="0">
              <a:latin typeface="Bahnschrift SemiBold" pitchFamily="34" charset="0"/>
            </a:endParaRPr>
          </a:p>
          <a:p>
            <a:pPr marL="0" indent="0">
              <a:buNone/>
            </a:pPr>
            <a:r>
              <a:rPr lang="fr-FR" sz="2600" dirty="0" smtClean="0">
                <a:latin typeface="Bahnschrift SemiBold" pitchFamily="34" charset="0"/>
              </a:rPr>
              <a:t>- Contrôle </a:t>
            </a:r>
            <a:r>
              <a:rPr lang="fr-FR" sz="2600" dirty="0">
                <a:latin typeface="Bahnschrift SemiBold" pitchFamily="34" charset="0"/>
              </a:rPr>
              <a:t>de la porte de cargo par servomoteur </a:t>
            </a:r>
            <a:endParaRPr lang="fr-FR" sz="2600" dirty="0" smtClean="0">
              <a:latin typeface="Bahnschrift SemiBold" pitchFamily="34" charset="0"/>
            </a:endParaRPr>
          </a:p>
          <a:p>
            <a:pPr marL="0" indent="0">
              <a:buNone/>
            </a:pPr>
            <a:r>
              <a:rPr lang="fr-FR" sz="2600" dirty="0">
                <a:latin typeface="Bahnschrift SemiBold" pitchFamily="34" charset="0"/>
              </a:rPr>
              <a:t>- Suivi des déplacements des colis </a:t>
            </a:r>
          </a:p>
          <a:p>
            <a:pPr marL="0" indent="0">
              <a:buNone/>
            </a:pPr>
            <a:r>
              <a:rPr lang="fr-FR" sz="2600" dirty="0">
                <a:latin typeface="Bahnschrift SemiBold" pitchFamily="34" charset="0"/>
              </a:rPr>
              <a:t>- Détection d'anomalies et alertes </a:t>
            </a:r>
            <a:endParaRPr lang="fr-FR" sz="2600" dirty="0">
              <a:latin typeface="Bahnschrift SemiBold" pitchFamily="34" charset="0"/>
            </a:endParaRPr>
          </a:p>
          <a:p>
            <a:pPr marL="0" indent="0">
              <a:buNone/>
            </a:pPr>
            <a:r>
              <a:rPr lang="fr-FR" sz="2600" u="sng" dirty="0">
                <a:effectLst>
                  <a:outerShdw blurRad="38100" dist="38100" dir="2700000" algn="tl">
                    <a:srgbClr val="000000">
                      <a:alpha val="43137"/>
                    </a:srgbClr>
                  </a:outerShdw>
                </a:effectLst>
                <a:latin typeface="Bahnschrift SemiBold" pitchFamily="34" charset="0"/>
              </a:rPr>
              <a:t>4. Conclusion </a:t>
            </a:r>
          </a:p>
          <a:p>
            <a:pPr marL="0" indent="0">
              <a:buNone/>
            </a:pPr>
            <a:r>
              <a:rPr lang="fr-FR" sz="2600" dirty="0">
                <a:latin typeface="Bahnschrift SemiBold" pitchFamily="34" charset="0"/>
              </a:rPr>
              <a:t>- Résumé des bénéfices </a:t>
            </a:r>
            <a:r>
              <a:rPr lang="fr-FR" sz="1600" dirty="0"/>
              <a:t/>
            </a:r>
            <a:br>
              <a:rPr lang="fr-FR" sz="1600" dirty="0"/>
            </a:br>
            <a:endParaRPr lang="fr-FR" sz="1600" dirty="0"/>
          </a:p>
        </p:txBody>
      </p:sp>
    </p:spTree>
    <p:extLst>
      <p:ext uri="{BB962C8B-B14F-4D97-AF65-F5344CB8AC3E}">
        <p14:creationId xmlns:p14="http://schemas.microsoft.com/office/powerpoint/2010/main" val="213945388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tx2">
                <a:lumMod val="60000"/>
                <a:lumOff val="40000"/>
              </a:schemeClr>
            </a:gs>
            <a:gs pos="80000">
              <a:schemeClr val="bg1">
                <a:tint val="45000"/>
                <a:shade val="99000"/>
                <a:satMod val="350000"/>
              </a:schemeClr>
            </a:gs>
            <a:gs pos="100000">
              <a:schemeClr val="bg1">
                <a:shade val="20000"/>
                <a:satMod val="255000"/>
              </a:schemeClr>
            </a:gs>
          </a:gsLst>
          <a:path path="circle">
            <a:fillToRect l="100000" b="100000"/>
          </a:path>
          <a:tileRect t="-100000" r="-100000"/>
        </a:gradFill>
        <a:effectLst/>
      </p:bgPr>
    </p:bg>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0"/>
            <a:ext cx="9144000" cy="731520"/>
          </a:xfrm>
          <a:solidFill>
            <a:schemeClr val="accent1">
              <a:lumMod val="75000"/>
            </a:schemeClr>
          </a:solidFill>
          <a:scene3d>
            <a:camera prst="orthographicFront"/>
            <a:lightRig rig="threePt" dir="t"/>
          </a:scene3d>
          <a:sp3d>
            <a:bevelT/>
          </a:sp3d>
        </p:spPr>
        <p:txBody>
          <a:bodyPr>
            <a:normAutofit/>
          </a:bodyPr>
          <a:lstStyle/>
          <a:p>
            <a:pPr marL="0" indent="0">
              <a:buNone/>
            </a:pPr>
            <a:r>
              <a:rPr lang="fr-FR" sz="4000" dirty="0" smtClean="0">
                <a:solidFill>
                  <a:schemeClr val="bg1"/>
                </a:solidFill>
                <a:effectLst>
                  <a:outerShdw blurRad="38100" dist="38100" dir="2700000" algn="tl">
                    <a:srgbClr val="000000">
                      <a:alpha val="43137"/>
                    </a:srgbClr>
                  </a:outerShdw>
                </a:effectLst>
                <a:latin typeface="Bahnschrift SemiBold" pitchFamily="34" charset="0"/>
              </a:rPr>
              <a:t>1. Introduction</a:t>
            </a:r>
          </a:p>
          <a:p>
            <a:endParaRPr lang="fr-FR" dirty="0"/>
          </a:p>
        </p:txBody>
      </p:sp>
      <p:sp>
        <p:nvSpPr>
          <p:cNvPr id="4" name="Rectangle 3"/>
          <p:cNvSpPr/>
          <p:nvPr/>
        </p:nvSpPr>
        <p:spPr>
          <a:xfrm>
            <a:off x="0" y="838201"/>
            <a:ext cx="8991600" cy="5558445"/>
          </a:xfrm>
          <a:prstGeom prst="rect">
            <a:avLst/>
          </a:prstGeom>
        </p:spPr>
        <p:txBody>
          <a:bodyPr wrap="square">
            <a:spAutoFit/>
          </a:bodyPr>
          <a:lstStyle/>
          <a:p>
            <a:r>
              <a:rPr lang="fr-FR" sz="2400" u="sng" dirty="0">
                <a:latin typeface="Bahnschrift SemiBold" pitchFamily="34" charset="0"/>
              </a:rPr>
              <a:t>Présentation du </a:t>
            </a:r>
            <a:r>
              <a:rPr lang="fr-FR" sz="2400" u="sng" dirty="0" smtClean="0">
                <a:latin typeface="Bahnschrift SemiBold" pitchFamily="34" charset="0"/>
              </a:rPr>
              <a:t>projet:</a:t>
            </a:r>
            <a:endParaRPr lang="fr-FR" sz="2400" u="sng" dirty="0">
              <a:latin typeface="Bahnschrift SemiBold" pitchFamily="34" charset="0"/>
            </a:endParaRPr>
          </a:p>
          <a:p>
            <a:pPr lvl="0">
              <a:spcBef>
                <a:spcPct val="20000"/>
              </a:spcBef>
            </a:pPr>
            <a:r>
              <a:rPr lang="fr-FR" sz="2400" dirty="0">
                <a:solidFill>
                  <a:prstClr val="white"/>
                </a:solidFill>
                <a:latin typeface="Bahnschrift SemiBold" pitchFamily="34" charset="0"/>
              </a:rPr>
              <a:t> </a:t>
            </a:r>
            <a:r>
              <a:rPr lang="fr-FR" sz="2400" dirty="0">
                <a:latin typeface="Bahnschrift SemiBold" pitchFamily="34" charset="0"/>
              </a:rPr>
              <a:t>Les ports maritimes jouent un rôle crucial dans l'économie mondiale, en assurant le transport et la distribution de marchandises à l'échelle internationale. Cependant, la gestion efficace des flux de cargaisons dans ces environnements complexes représente souvent un défi de taille.</a:t>
            </a:r>
          </a:p>
          <a:p>
            <a:pPr lvl="0">
              <a:spcBef>
                <a:spcPct val="20000"/>
              </a:spcBef>
            </a:pPr>
            <a:endParaRPr lang="fr-FR" sz="2400" dirty="0">
              <a:latin typeface="Bahnschrift SemiBold" pitchFamily="34" charset="0"/>
            </a:endParaRPr>
          </a:p>
          <a:p>
            <a:pPr lvl="0">
              <a:spcBef>
                <a:spcPct val="20000"/>
              </a:spcBef>
            </a:pPr>
            <a:r>
              <a:rPr lang="fr-FR" sz="2400" dirty="0">
                <a:latin typeface="Bahnschrift SemiBold" pitchFamily="34" charset="0"/>
              </a:rPr>
              <a:t> Pour cela, la technologie d’identification par radiofréquence (RFID) joue un rôle central dans le système d’identification et de suivi du fret proposé. Grâce à ses capacités uniques, la RFID permettra de relever les principaux défis liés à la gestion des flux de marchandises dans des environnements portuaires complexes .</a:t>
            </a:r>
          </a:p>
          <a:p>
            <a:pPr lvl="0">
              <a:spcBef>
                <a:spcPct val="20000"/>
              </a:spcBef>
            </a:pPr>
            <a:endParaRPr lang="fr-FR" sz="2400" dirty="0">
              <a:solidFill>
                <a:prstClr val="white"/>
              </a:solidFill>
              <a:latin typeface="Bahnschrift SemiBold" pitchFamily="34" charset="0"/>
            </a:endParaRPr>
          </a:p>
        </p:txBody>
      </p:sp>
    </p:spTree>
    <p:extLst>
      <p:ext uri="{BB962C8B-B14F-4D97-AF65-F5344CB8AC3E}">
        <p14:creationId xmlns:p14="http://schemas.microsoft.com/office/powerpoint/2010/main" val="408188703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tx2">
                <a:lumMod val="60000"/>
                <a:lumOff val="40000"/>
              </a:schemeClr>
            </a:gs>
            <a:gs pos="66000">
              <a:schemeClr val="bg1">
                <a:tint val="45000"/>
                <a:shade val="99000"/>
                <a:satMod val="350000"/>
              </a:schemeClr>
            </a:gs>
            <a:gs pos="100000">
              <a:schemeClr val="bg1">
                <a:shade val="20000"/>
                <a:satMod val="255000"/>
              </a:schemeClr>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a:xfrm>
            <a:off x="0" y="0"/>
            <a:ext cx="9144000" cy="731520"/>
          </a:xfrm>
          <a:solidFill>
            <a:schemeClr val="accent1">
              <a:lumMod val="75000"/>
            </a:schemeClr>
          </a:solidFill>
          <a:scene3d>
            <a:camera prst="orthographicFront"/>
            <a:lightRig rig="threePt" dir="t"/>
          </a:scene3d>
          <a:sp3d>
            <a:bevelT/>
          </a:sp3d>
        </p:spPr>
        <p:txBody>
          <a:bodyPr>
            <a:normAutofit fontScale="90000"/>
          </a:bodyPr>
          <a:lstStyle/>
          <a:p>
            <a:pPr algn="l"/>
            <a:r>
              <a:rPr lang="fr-FR" dirty="0">
                <a:latin typeface="Bahnschrift SemiBold" pitchFamily="34" charset="0"/>
              </a:rPr>
              <a:t/>
            </a:r>
            <a:br>
              <a:rPr lang="fr-FR" dirty="0">
                <a:latin typeface="Bahnschrift SemiBold" pitchFamily="34" charset="0"/>
              </a:rPr>
            </a:br>
            <a:r>
              <a:rPr lang="fr-FR" dirty="0">
                <a:solidFill>
                  <a:schemeClr val="bg1"/>
                </a:solidFill>
                <a:effectLst>
                  <a:outerShdw blurRad="38100" dist="38100" dir="2700000" algn="tl">
                    <a:srgbClr val="000000">
                      <a:alpha val="43137"/>
                    </a:srgbClr>
                  </a:outerShdw>
                </a:effectLst>
                <a:latin typeface="Bahnschrift SemiBold" pitchFamily="34" charset="0"/>
              </a:rPr>
              <a:t>1. Introduction</a:t>
            </a:r>
            <a:r>
              <a:rPr lang="fr-FR" dirty="0">
                <a:latin typeface="Bahnschrift SemiBold" pitchFamily="34" charset="0"/>
              </a:rPr>
              <a:t/>
            </a:r>
            <a:br>
              <a:rPr lang="fr-FR" dirty="0">
                <a:latin typeface="Bahnschrift SemiBold" pitchFamily="34" charset="0"/>
              </a:rPr>
            </a:br>
            <a:endParaRPr lang="fr-FR" dirty="0"/>
          </a:p>
        </p:txBody>
      </p:sp>
      <p:sp>
        <p:nvSpPr>
          <p:cNvPr id="3" name="Espace réservé du contenu 2"/>
          <p:cNvSpPr>
            <a:spLocks noGrp="1"/>
          </p:cNvSpPr>
          <p:nvPr>
            <p:ph idx="1"/>
          </p:nvPr>
        </p:nvSpPr>
        <p:spPr>
          <a:xfrm>
            <a:off x="22412" y="762000"/>
            <a:ext cx="9121588" cy="5791200"/>
          </a:xfrm>
        </p:spPr>
        <p:txBody>
          <a:bodyPr>
            <a:normAutofit/>
          </a:bodyPr>
          <a:lstStyle/>
          <a:p>
            <a:pPr marL="0" indent="0">
              <a:buNone/>
            </a:pPr>
            <a:r>
              <a:rPr lang="fr-FR" sz="2400" u="sng" dirty="0">
                <a:latin typeface="Bahnschrift SemiBold" pitchFamily="34" charset="0"/>
              </a:rPr>
              <a:t>Objectifs du système RFID pour le suivi de </a:t>
            </a:r>
            <a:r>
              <a:rPr lang="fr-FR" sz="2400" u="sng" dirty="0" smtClean="0">
                <a:latin typeface="Bahnschrift SemiBold" pitchFamily="34" charset="0"/>
              </a:rPr>
              <a:t>cargaisons:</a:t>
            </a:r>
            <a:endParaRPr lang="fr-FR" sz="2400" u="sng" dirty="0" smtClean="0">
              <a:latin typeface="Bahnschrift SemiBold" pitchFamily="34" charset="0"/>
            </a:endParaRPr>
          </a:p>
          <a:p>
            <a:pPr marL="0" indent="0">
              <a:buNone/>
            </a:pPr>
            <a:r>
              <a:rPr lang="fr-FR" sz="2400" dirty="0">
                <a:latin typeface="Bahnschrift SemiBold" pitchFamily="34" charset="0"/>
              </a:rPr>
              <a:t> </a:t>
            </a:r>
            <a:r>
              <a:rPr lang="fr-FR" sz="2400" dirty="0" smtClean="0">
                <a:latin typeface="Bahnschrift SemiBold" pitchFamily="34" charset="0"/>
              </a:rPr>
              <a:t>  les </a:t>
            </a:r>
            <a:r>
              <a:rPr lang="fr-FR" sz="2400" dirty="0">
                <a:latin typeface="Bahnschrift SemiBold" pitchFamily="34" charset="0"/>
              </a:rPr>
              <a:t>principaux objectifs d'un système RFID pour le suivi des cargaisons </a:t>
            </a:r>
            <a:r>
              <a:rPr lang="fr-FR" sz="2400" dirty="0" smtClean="0">
                <a:latin typeface="Bahnschrift SemiBold" pitchFamily="34" charset="0"/>
              </a:rPr>
              <a:t>:</a:t>
            </a:r>
          </a:p>
          <a:p>
            <a:pPr marL="0" indent="0">
              <a:buNone/>
            </a:pPr>
            <a:endParaRPr lang="fr-FR" sz="2400" dirty="0" smtClean="0">
              <a:latin typeface="Bahnschrift SemiBold" pitchFamily="34" charset="0"/>
            </a:endParaRPr>
          </a:p>
          <a:p>
            <a:pPr marL="0" indent="0">
              <a:buNone/>
            </a:pPr>
            <a:r>
              <a:rPr lang="fr-FR" sz="2400" u="sng" dirty="0" smtClean="0">
                <a:latin typeface="Bahnschrift SemiBold" pitchFamily="34" charset="0"/>
              </a:rPr>
              <a:t>1. </a:t>
            </a:r>
            <a:r>
              <a:rPr lang="fr-FR" sz="2400" b="1" u="sng" dirty="0" smtClean="0">
                <a:latin typeface="Bahnschrift SemiBold" pitchFamily="34" charset="0"/>
              </a:rPr>
              <a:t>Améliorer </a:t>
            </a:r>
            <a:r>
              <a:rPr lang="fr-FR" sz="2400" b="1" u="sng" dirty="0">
                <a:latin typeface="Bahnschrift SemiBold" pitchFamily="34" charset="0"/>
              </a:rPr>
              <a:t>la traçabilité et la visibilité :</a:t>
            </a:r>
            <a:r>
              <a:rPr lang="fr-FR" sz="2400" b="1" dirty="0">
                <a:latin typeface="Bahnschrift SemiBold" pitchFamily="34" charset="0"/>
              </a:rPr>
              <a:t> Le système permet de suivre en temps </a:t>
            </a:r>
            <a:r>
              <a:rPr lang="fr-FR" sz="2400" dirty="0">
                <a:latin typeface="Bahnschrift SemiBold" pitchFamily="34" charset="0"/>
              </a:rPr>
              <a:t>réel la localisation et le statut des cargaisons, ce qui améliore la gestion de la chaîne logistique et permet aux parties prenantes de savoir où se trouvent leurs marchandises à tout moment.</a:t>
            </a:r>
          </a:p>
          <a:p>
            <a:pPr marL="0" indent="0">
              <a:buNone/>
            </a:pPr>
            <a:endParaRPr lang="fr-FR" sz="2400" dirty="0">
              <a:latin typeface="Bahnschrift SemiBold" pitchFamily="34" charset="0"/>
            </a:endParaRPr>
          </a:p>
          <a:p>
            <a:pPr marL="0" indent="0">
              <a:buNone/>
            </a:pPr>
            <a:r>
              <a:rPr lang="fr-FR" sz="2400" u="sng" dirty="0" smtClean="0">
                <a:latin typeface="Bahnschrift SemiBold" pitchFamily="34" charset="0"/>
              </a:rPr>
              <a:t>2. Réduire </a:t>
            </a:r>
            <a:r>
              <a:rPr lang="fr-FR" sz="2400" u="sng" dirty="0">
                <a:latin typeface="Bahnschrift SemiBold" pitchFamily="34" charset="0"/>
              </a:rPr>
              <a:t>les erreurs de suivi et les pertes :</a:t>
            </a:r>
            <a:r>
              <a:rPr lang="fr-FR" sz="2400" dirty="0">
                <a:latin typeface="Bahnschrift SemiBold" pitchFamily="34" charset="0"/>
              </a:rPr>
              <a:t> Avec des identifiants uniques pour chaque cargaison, le système RFID diminue les risques d'erreurs humaines et de perte d'inventaire, en automatisant la collecte de données.</a:t>
            </a:r>
          </a:p>
          <a:p>
            <a:pPr marL="0" indent="0">
              <a:buNone/>
            </a:pPr>
            <a:endParaRPr lang="fr-FR" sz="2400" dirty="0">
              <a:latin typeface="Bahnschrift SemiBold" pitchFamily="34" charset="0"/>
            </a:endParaRPr>
          </a:p>
        </p:txBody>
      </p:sp>
    </p:spTree>
    <p:extLst>
      <p:ext uri="{BB962C8B-B14F-4D97-AF65-F5344CB8AC3E}">
        <p14:creationId xmlns:p14="http://schemas.microsoft.com/office/powerpoint/2010/main" val="258121298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tx2">
                <a:lumMod val="60000"/>
                <a:lumOff val="40000"/>
              </a:schemeClr>
            </a:gs>
            <a:gs pos="64000">
              <a:schemeClr val="bg1">
                <a:tint val="45000"/>
                <a:shade val="99000"/>
                <a:satMod val="350000"/>
              </a:schemeClr>
            </a:gs>
            <a:gs pos="100000">
              <a:schemeClr val="bg1">
                <a:shade val="20000"/>
                <a:satMod val="255000"/>
              </a:scheme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a:xfrm>
            <a:off x="0" y="0"/>
            <a:ext cx="9144000" cy="731520"/>
          </a:xfrm>
          <a:solidFill>
            <a:schemeClr val="accent1">
              <a:lumMod val="75000"/>
            </a:schemeClr>
          </a:solidFill>
          <a:ln>
            <a:solidFill>
              <a:schemeClr val="accent1">
                <a:lumMod val="60000"/>
                <a:lumOff val="40000"/>
              </a:schemeClr>
            </a:solidFill>
          </a:ln>
          <a:scene3d>
            <a:camera prst="orthographicFront"/>
            <a:lightRig rig="threePt" dir="t"/>
          </a:scene3d>
          <a:sp3d>
            <a:bevelT/>
          </a:sp3d>
        </p:spPr>
        <p:txBody>
          <a:bodyPr>
            <a:normAutofit fontScale="90000"/>
          </a:bodyPr>
          <a:lstStyle/>
          <a:p>
            <a:pPr algn="l"/>
            <a:r>
              <a:rPr lang="fr-FR" dirty="0">
                <a:solidFill>
                  <a:schemeClr val="bg1"/>
                </a:solidFill>
                <a:effectLst>
                  <a:outerShdw blurRad="38100" dist="38100" dir="2700000" algn="tl">
                    <a:srgbClr val="000000">
                      <a:alpha val="43137"/>
                    </a:srgbClr>
                  </a:outerShdw>
                </a:effectLst>
                <a:latin typeface="Bahnschrift SemiBold" pitchFamily="34" charset="0"/>
              </a:rPr>
              <a:t>1. Introduction</a:t>
            </a:r>
            <a:endParaRPr lang="fr-FR" dirty="0">
              <a:solidFill>
                <a:schemeClr val="bg1"/>
              </a:solidFill>
              <a:effectLst>
                <a:outerShdw blurRad="38100" dist="38100" dir="2700000" algn="tl">
                  <a:srgbClr val="000000">
                    <a:alpha val="43137"/>
                  </a:srgbClr>
                </a:outerShdw>
              </a:effectLst>
            </a:endParaRPr>
          </a:p>
        </p:txBody>
      </p:sp>
      <p:sp>
        <p:nvSpPr>
          <p:cNvPr id="3" name="Espace réservé du contenu 2"/>
          <p:cNvSpPr>
            <a:spLocks noGrp="1"/>
          </p:cNvSpPr>
          <p:nvPr>
            <p:ph idx="1"/>
          </p:nvPr>
        </p:nvSpPr>
        <p:spPr>
          <a:xfrm>
            <a:off x="23812" y="762000"/>
            <a:ext cx="9120188" cy="5867400"/>
          </a:xfrm>
        </p:spPr>
        <p:txBody>
          <a:bodyPr>
            <a:noAutofit/>
          </a:bodyPr>
          <a:lstStyle/>
          <a:p>
            <a:pPr marL="0" indent="0">
              <a:buNone/>
            </a:pPr>
            <a:r>
              <a:rPr lang="fr-FR" sz="2400" u="sng" dirty="0" smtClean="0">
                <a:latin typeface="Bahnschrift SemiBold" pitchFamily="34" charset="0"/>
              </a:rPr>
              <a:t>3. Accélérer </a:t>
            </a:r>
            <a:r>
              <a:rPr lang="fr-FR" sz="2400" u="sng" dirty="0">
                <a:latin typeface="Bahnschrift SemiBold" pitchFamily="34" charset="0"/>
              </a:rPr>
              <a:t>le processus de gestion des stocks et des flux </a:t>
            </a:r>
            <a:r>
              <a:rPr lang="fr-FR" sz="2400" u="sng" dirty="0" smtClean="0">
                <a:latin typeface="Bahnschrift SemiBold" pitchFamily="34" charset="0"/>
              </a:rPr>
              <a:t>:</a:t>
            </a:r>
            <a:r>
              <a:rPr lang="fr-FR" sz="2400" dirty="0" smtClean="0">
                <a:latin typeface="Bahnschrift SemiBold" pitchFamily="34" charset="0"/>
              </a:rPr>
              <a:t> En </a:t>
            </a:r>
            <a:r>
              <a:rPr lang="fr-FR" sz="2400" dirty="0">
                <a:latin typeface="Bahnschrift SemiBold" pitchFamily="34" charset="0"/>
              </a:rPr>
              <a:t>automatisant la lecture des informations des étiquettes RFID, le système réduit le temps nécessaire pour traiter les cargaisons lors des entrées, des sorties et des transferts dans les entrepôts.</a:t>
            </a:r>
          </a:p>
          <a:p>
            <a:pPr marL="0" indent="0">
              <a:buNone/>
            </a:pPr>
            <a:endParaRPr lang="fr-FR" sz="2400" dirty="0">
              <a:latin typeface="Bahnschrift SemiBold" pitchFamily="34" charset="0"/>
            </a:endParaRPr>
          </a:p>
          <a:p>
            <a:pPr marL="0" indent="0">
              <a:buNone/>
            </a:pPr>
            <a:r>
              <a:rPr lang="fr-FR" sz="2400" u="sng" dirty="0" smtClean="0">
                <a:latin typeface="Bahnschrift SemiBold" pitchFamily="34" charset="0"/>
              </a:rPr>
              <a:t>4. Améliorer </a:t>
            </a:r>
            <a:r>
              <a:rPr lang="fr-FR" sz="2400" u="sng" dirty="0">
                <a:latin typeface="Bahnschrift SemiBold" pitchFamily="34" charset="0"/>
              </a:rPr>
              <a:t>la sécurité </a:t>
            </a:r>
            <a:r>
              <a:rPr lang="fr-FR" sz="2400" u="sng" dirty="0" smtClean="0">
                <a:latin typeface="Bahnschrift SemiBold" pitchFamily="34" charset="0"/>
              </a:rPr>
              <a:t>:</a:t>
            </a:r>
            <a:r>
              <a:rPr lang="fr-FR" sz="2400" dirty="0" smtClean="0">
                <a:latin typeface="Bahnschrift SemiBold" pitchFamily="34" charset="0"/>
              </a:rPr>
              <a:t> Le </a:t>
            </a:r>
            <a:r>
              <a:rPr lang="fr-FR" sz="2400" dirty="0">
                <a:latin typeface="Bahnschrift SemiBold" pitchFamily="34" charset="0"/>
              </a:rPr>
              <a:t>suivi RFID permet de détecter les anomalies ou tentatives de vol en temps réel, renforçant la sécurité des cargaisons.</a:t>
            </a:r>
          </a:p>
          <a:p>
            <a:pPr marL="0" indent="0">
              <a:buNone/>
            </a:pPr>
            <a:endParaRPr lang="fr-FR" sz="2400" dirty="0">
              <a:latin typeface="Bahnschrift SemiBold" pitchFamily="34" charset="0"/>
            </a:endParaRPr>
          </a:p>
          <a:p>
            <a:pPr marL="0" indent="0">
              <a:buNone/>
            </a:pPr>
            <a:r>
              <a:rPr lang="fr-FR" sz="2400" u="sng" dirty="0" smtClean="0">
                <a:latin typeface="Bahnschrift SemiBold" pitchFamily="34" charset="0"/>
              </a:rPr>
              <a:t>5. Réduire </a:t>
            </a:r>
            <a:r>
              <a:rPr lang="fr-FR" sz="2400" u="sng" dirty="0">
                <a:latin typeface="Bahnschrift SemiBold" pitchFamily="34" charset="0"/>
              </a:rPr>
              <a:t>les coûts opérationnels :</a:t>
            </a:r>
            <a:r>
              <a:rPr lang="fr-FR" sz="2400" dirty="0">
                <a:latin typeface="Bahnschrift SemiBold" pitchFamily="34" charset="0"/>
              </a:rPr>
              <a:t> En optimisant les processus logistiques, le système RFID contribue à réduire les coûts associés à la gestion et au suivi manuel des cargaisons.</a:t>
            </a:r>
          </a:p>
          <a:p>
            <a:pPr marL="0" indent="0">
              <a:buNone/>
            </a:pPr>
            <a:endParaRPr lang="fr-FR" sz="2400" dirty="0">
              <a:latin typeface="Bahnschrift SemiBold" pitchFamily="34" charset="0"/>
            </a:endParaRPr>
          </a:p>
        </p:txBody>
      </p:sp>
    </p:spTree>
    <p:extLst>
      <p:ext uri="{BB962C8B-B14F-4D97-AF65-F5344CB8AC3E}">
        <p14:creationId xmlns:p14="http://schemas.microsoft.com/office/powerpoint/2010/main" val="409959935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gradFill flip="none" rotWithShape="1">
          <a:gsLst>
            <a:gs pos="97000">
              <a:srgbClr val="999999"/>
            </a:gs>
            <a:gs pos="83000">
              <a:srgbClr val="CBCBCB"/>
            </a:gs>
            <a:gs pos="0">
              <a:schemeClr val="tx2">
                <a:lumMod val="60000"/>
                <a:lumOff val="40000"/>
              </a:schemeClr>
            </a:gs>
            <a:gs pos="55000">
              <a:schemeClr val="bg1">
                <a:tint val="45000"/>
                <a:shade val="99000"/>
                <a:satMod val="350000"/>
              </a:schemeClr>
            </a:gs>
            <a:gs pos="100000">
              <a:schemeClr val="bg1">
                <a:shade val="20000"/>
                <a:satMod val="255000"/>
              </a:schemeClr>
            </a:gs>
          </a:gsLst>
          <a:lin ang="5400000" scaled="1"/>
          <a:tileRect/>
        </a:gra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a:xfrm>
            <a:off x="0" y="3175"/>
            <a:ext cx="9144000" cy="731520"/>
          </a:xfrm>
          <a:solidFill>
            <a:schemeClr val="accent1">
              <a:lumMod val="75000"/>
            </a:schemeClr>
          </a:solidFill>
          <a:scene3d>
            <a:camera prst="orthographicFront"/>
            <a:lightRig rig="threePt" dir="t"/>
          </a:scene3d>
          <a:sp3d>
            <a:bevelT/>
          </a:sp3d>
        </p:spPr>
        <p:txBody>
          <a:bodyPr>
            <a:normAutofit fontScale="90000"/>
          </a:bodyPr>
          <a:lstStyle/>
          <a:p>
            <a:pPr algn="l"/>
            <a:r>
              <a:rPr lang="fr-FR" dirty="0">
                <a:solidFill>
                  <a:schemeClr val="bg1"/>
                </a:solidFill>
                <a:effectLst>
                  <a:outerShdw blurRad="38100" dist="38100" dir="2700000" algn="tl">
                    <a:srgbClr val="000000">
                      <a:alpha val="43137"/>
                    </a:srgbClr>
                  </a:outerShdw>
                </a:effectLst>
                <a:latin typeface="Bahnschrift SemiBold" pitchFamily="34" charset="0"/>
              </a:rPr>
              <a:t>1. Introduction</a:t>
            </a:r>
          </a:p>
        </p:txBody>
      </p:sp>
      <p:sp>
        <p:nvSpPr>
          <p:cNvPr id="3" name="Espace réservé du contenu 2"/>
          <p:cNvSpPr>
            <a:spLocks noGrp="1"/>
          </p:cNvSpPr>
          <p:nvPr>
            <p:ph idx="1"/>
          </p:nvPr>
        </p:nvSpPr>
        <p:spPr>
          <a:xfrm>
            <a:off x="0" y="758456"/>
            <a:ext cx="9144000" cy="3356344"/>
          </a:xfrm>
        </p:spPr>
        <p:txBody>
          <a:bodyPr/>
          <a:lstStyle/>
          <a:p>
            <a:pPr marL="0" indent="0">
              <a:buNone/>
            </a:pPr>
            <a:r>
              <a:rPr lang="fr-FR" sz="2400" u="sng" dirty="0" smtClean="0">
                <a:latin typeface="Bahnschrift SemiBold" pitchFamily="34" charset="0"/>
              </a:rPr>
              <a:t>6. Optimiser </a:t>
            </a:r>
            <a:r>
              <a:rPr lang="fr-FR" sz="2400" u="sng" dirty="0">
                <a:latin typeface="Bahnschrift SemiBold" pitchFamily="34" charset="0"/>
              </a:rPr>
              <a:t>la prise de décision </a:t>
            </a:r>
            <a:r>
              <a:rPr lang="fr-FR" sz="2400" u="sng" dirty="0" smtClean="0">
                <a:latin typeface="Bahnschrift SemiBold" pitchFamily="34" charset="0"/>
              </a:rPr>
              <a:t>:</a:t>
            </a:r>
            <a:r>
              <a:rPr lang="fr-FR" sz="2400" dirty="0" smtClean="0">
                <a:latin typeface="Bahnschrift SemiBold" pitchFamily="34" charset="0"/>
              </a:rPr>
              <a:t> Les </a:t>
            </a:r>
            <a:r>
              <a:rPr lang="fr-FR" sz="2400" dirty="0">
                <a:latin typeface="Bahnschrift SemiBold" pitchFamily="34" charset="0"/>
              </a:rPr>
              <a:t>données collectées grâce au RFID fournissent des informations utiles pour l’analyse et l’amélioration des processus logistiques, permettant une prise de décision plus rapide et mieux informée.</a:t>
            </a:r>
          </a:p>
          <a:p>
            <a:pPr marL="0" indent="0">
              <a:buNone/>
            </a:pPr>
            <a:endParaRPr lang="fr-FR" dirty="0" smtClean="0"/>
          </a:p>
          <a:p>
            <a:pPr marL="0" indent="0">
              <a:buNone/>
            </a:pPr>
            <a:r>
              <a:rPr lang="fr-FR" sz="2400" dirty="0" smtClean="0">
                <a:latin typeface="Bahnschrift SemiBold" pitchFamily="34" charset="0"/>
              </a:rPr>
              <a:t>   Ces </a:t>
            </a:r>
            <a:r>
              <a:rPr lang="fr-FR" sz="2400" dirty="0">
                <a:latin typeface="Bahnschrift SemiBold" pitchFamily="34" charset="0"/>
              </a:rPr>
              <a:t>objectifs permettent de rendre la chaîne </a:t>
            </a:r>
            <a:r>
              <a:rPr lang="fr-FR" sz="2400" dirty="0" smtClean="0">
                <a:latin typeface="Bahnschrift SemiBold" pitchFamily="34" charset="0"/>
              </a:rPr>
              <a:t>d'approvisionne-</a:t>
            </a:r>
          </a:p>
          <a:p>
            <a:pPr marL="0" indent="0">
              <a:buNone/>
            </a:pPr>
            <a:r>
              <a:rPr lang="fr-FR" sz="2400" dirty="0" smtClean="0">
                <a:latin typeface="Bahnschrift SemiBold" pitchFamily="34" charset="0"/>
              </a:rPr>
              <a:t>ment plus efficace, sécurisée et transparente.</a:t>
            </a:r>
            <a:endParaRPr lang="fr-FR" sz="2400" dirty="0" smtClean="0">
              <a:latin typeface="Bahnschrift SemiBold" pitchFamily="34" charset="0"/>
            </a:endParaRPr>
          </a:p>
        </p:txBody>
      </p:sp>
    </p:spTree>
    <p:extLst>
      <p:ext uri="{BB962C8B-B14F-4D97-AF65-F5344CB8AC3E}">
        <p14:creationId xmlns:p14="http://schemas.microsoft.com/office/powerpoint/2010/main" val="244462356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gradFill flip="none" rotWithShape="1">
          <a:gsLst>
            <a:gs pos="62000">
              <a:srgbClr val="E5E5E5"/>
            </a:gs>
            <a:gs pos="0">
              <a:schemeClr val="tx2">
                <a:lumMod val="60000"/>
                <a:lumOff val="40000"/>
              </a:schemeClr>
            </a:gs>
            <a:gs pos="26000">
              <a:schemeClr val="bg1">
                <a:tint val="45000"/>
                <a:shade val="99000"/>
                <a:satMod val="350000"/>
              </a:schemeClr>
            </a:gs>
            <a:gs pos="100000">
              <a:schemeClr val="bg1">
                <a:shade val="20000"/>
                <a:satMod val="255000"/>
              </a:schemeClr>
            </a:gs>
          </a:gsLst>
          <a:lin ang="2700000" scaled="1"/>
          <a:tileRect/>
        </a:gra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a:xfrm>
            <a:off x="0" y="0"/>
            <a:ext cx="9144000" cy="731520"/>
          </a:xfrm>
          <a:solidFill>
            <a:schemeClr val="accent1">
              <a:lumMod val="75000"/>
            </a:schemeClr>
          </a:solidFill>
          <a:scene3d>
            <a:camera prst="orthographicFront"/>
            <a:lightRig rig="threePt" dir="t"/>
          </a:scene3d>
          <a:sp3d>
            <a:bevelT/>
          </a:sp3d>
        </p:spPr>
        <p:txBody>
          <a:bodyPr>
            <a:normAutofit fontScale="90000"/>
          </a:bodyPr>
          <a:lstStyle/>
          <a:p>
            <a:pPr algn="l"/>
            <a:r>
              <a:rPr lang="fr-FR" dirty="0">
                <a:solidFill>
                  <a:schemeClr val="bg1"/>
                </a:solidFill>
                <a:effectLst>
                  <a:outerShdw blurRad="38100" dist="38100" dir="2700000" algn="tl">
                    <a:srgbClr val="000000">
                      <a:alpha val="43137"/>
                    </a:srgbClr>
                  </a:outerShdw>
                </a:effectLst>
                <a:latin typeface="Bahnschrift SemiBold" pitchFamily="34" charset="0"/>
              </a:rPr>
              <a:t>2. Composants du système </a:t>
            </a:r>
          </a:p>
        </p:txBody>
      </p:sp>
      <p:sp>
        <p:nvSpPr>
          <p:cNvPr id="3" name="Espace réservé du contenu 2"/>
          <p:cNvSpPr>
            <a:spLocks noGrp="1"/>
          </p:cNvSpPr>
          <p:nvPr>
            <p:ph idx="1"/>
          </p:nvPr>
        </p:nvSpPr>
        <p:spPr>
          <a:xfrm>
            <a:off x="0" y="762000"/>
            <a:ext cx="9144000" cy="4572000"/>
          </a:xfrm>
        </p:spPr>
        <p:txBody>
          <a:bodyPr>
            <a:normAutofit/>
          </a:bodyPr>
          <a:lstStyle/>
          <a:p>
            <a:pPr marL="0" indent="0">
              <a:buNone/>
            </a:pPr>
            <a:r>
              <a:rPr lang="fr-FR" sz="2800" b="1" u="sng" dirty="0" smtClean="0">
                <a:latin typeface="Bahnschrift SemiBold" pitchFamily="34" charset="0"/>
              </a:rPr>
              <a:t>Introduction :</a:t>
            </a:r>
          </a:p>
          <a:p>
            <a:pPr marL="0" indent="0">
              <a:buNone/>
            </a:pPr>
            <a:r>
              <a:rPr lang="fr-FR" sz="2400" dirty="0">
                <a:latin typeface="Bahnschrift SemiBold" pitchFamily="34" charset="0"/>
              </a:rPr>
              <a:t> </a:t>
            </a:r>
            <a:r>
              <a:rPr lang="fr-FR" sz="2400" dirty="0" smtClean="0">
                <a:latin typeface="Bahnschrift SemiBold" pitchFamily="34" charset="0"/>
              </a:rPr>
              <a:t>   Pour </a:t>
            </a:r>
            <a:r>
              <a:rPr lang="fr-FR" sz="2400" dirty="0">
                <a:latin typeface="Bahnschrift SemiBold" pitchFamily="34" charset="0"/>
              </a:rPr>
              <a:t>réaliser un système de suivi et d'identification des </a:t>
            </a:r>
            <a:r>
              <a:rPr lang="fr-FR" sz="2400" dirty="0" smtClean="0">
                <a:latin typeface="Bahnschrift SemiBold" pitchFamily="34" charset="0"/>
              </a:rPr>
              <a:t>marc-   </a:t>
            </a:r>
            <a:r>
              <a:rPr lang="fr-FR" sz="2400" dirty="0" err="1" smtClean="0">
                <a:latin typeface="Bahnschrift SemiBold" pitchFamily="34" charset="0"/>
              </a:rPr>
              <a:t>handises</a:t>
            </a:r>
            <a:r>
              <a:rPr lang="fr-FR" sz="2400" dirty="0">
                <a:latin typeface="Bahnschrift SemiBold" pitchFamily="34" charset="0"/>
              </a:rPr>
              <a:t>, plusieurs composants électroniques sont nécessaires. Le cœur du système est basé sur un microcontrôleur Arduino, qui interagit avec un module RFID pour identifier les </a:t>
            </a:r>
            <a:r>
              <a:rPr lang="fr-FR" sz="2400" dirty="0" err="1" smtClean="0">
                <a:latin typeface="Bahnschrift SemiBold" pitchFamily="34" charset="0"/>
              </a:rPr>
              <a:t>marchan</a:t>
            </a:r>
            <a:r>
              <a:rPr lang="fr-FR" sz="2400" dirty="0" smtClean="0">
                <a:latin typeface="Bahnschrift SemiBold" pitchFamily="34" charset="0"/>
              </a:rPr>
              <a:t>- dises </a:t>
            </a:r>
            <a:r>
              <a:rPr lang="fr-FR" sz="2400" dirty="0">
                <a:latin typeface="Bahnschrift SemiBold" pitchFamily="34" charset="0"/>
              </a:rPr>
              <a:t>via des étiquettes RFID. Des capteurs supplémentaires permettent de surveiller les conditions de stockage, et des </a:t>
            </a:r>
            <a:r>
              <a:rPr lang="fr-FR" sz="2400" dirty="0" err="1" smtClean="0">
                <a:latin typeface="Bahnschrift SemiBold" pitchFamily="34" charset="0"/>
              </a:rPr>
              <a:t>actio</a:t>
            </a:r>
            <a:r>
              <a:rPr lang="fr-FR" sz="2400" dirty="0" smtClean="0">
                <a:latin typeface="Bahnschrift SemiBold" pitchFamily="34" charset="0"/>
              </a:rPr>
              <a:t>-       </a:t>
            </a:r>
            <a:r>
              <a:rPr lang="fr-FR" sz="2400" dirty="0" err="1" smtClean="0">
                <a:latin typeface="Bahnschrift SemiBold" pitchFamily="34" charset="0"/>
              </a:rPr>
              <a:t>nneurs</a:t>
            </a:r>
            <a:r>
              <a:rPr lang="fr-FR" sz="2400" dirty="0" smtClean="0">
                <a:latin typeface="Bahnschrift SemiBold" pitchFamily="34" charset="0"/>
              </a:rPr>
              <a:t> </a:t>
            </a:r>
            <a:r>
              <a:rPr lang="fr-FR" sz="2400" dirty="0">
                <a:latin typeface="Bahnschrift SemiBold" pitchFamily="34" charset="0"/>
              </a:rPr>
              <a:t>assurent des notifications en temps réel. Cette section détaille les principaux composants du système et leur rôle dans l'architecture globale du projet.</a:t>
            </a:r>
            <a:endParaRPr lang="fr-FR" sz="2400" dirty="0" smtClean="0">
              <a:latin typeface="Bahnschrift SemiBold" pitchFamily="34" charset="0"/>
            </a:endParaRPr>
          </a:p>
        </p:txBody>
      </p:sp>
    </p:spTree>
    <p:extLst>
      <p:ext uri="{BB962C8B-B14F-4D97-AF65-F5344CB8AC3E}">
        <p14:creationId xmlns:p14="http://schemas.microsoft.com/office/powerpoint/2010/main" val="427506942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26581"/>
            <a:ext cx="9144000" cy="914400"/>
          </a:xfrm>
          <a:solidFill>
            <a:schemeClr val="accent1">
              <a:lumMod val="75000"/>
            </a:schemeClr>
          </a:solidFill>
          <a:scene3d>
            <a:camera prst="orthographicFront"/>
            <a:lightRig rig="threePt" dir="t"/>
          </a:scene3d>
          <a:sp3d>
            <a:bevelT/>
          </a:sp3d>
        </p:spPr>
        <p:txBody>
          <a:bodyPr>
            <a:normAutofit/>
          </a:bodyPr>
          <a:lstStyle/>
          <a:p>
            <a:pPr algn="l"/>
            <a:r>
              <a:rPr lang="fr-FR" sz="4000" dirty="0">
                <a:solidFill>
                  <a:schemeClr val="bg1"/>
                </a:solidFill>
                <a:effectLst>
                  <a:outerShdw blurRad="38100" dist="38100" dir="2700000" algn="tl">
                    <a:srgbClr val="000000">
                      <a:alpha val="43137"/>
                    </a:srgbClr>
                  </a:outerShdw>
                </a:effectLst>
                <a:latin typeface="Bahnschrift SemiBold" pitchFamily="34" charset="0"/>
              </a:rPr>
              <a:t>2. Composants du système </a:t>
            </a:r>
            <a:endParaRPr lang="fr-FR" sz="4000" dirty="0">
              <a:solidFill>
                <a:schemeClr val="bg1"/>
              </a:solidFill>
              <a:effectLst>
                <a:outerShdw blurRad="38100" dist="38100" dir="2700000" algn="tl">
                  <a:srgbClr val="000000">
                    <a:alpha val="43137"/>
                  </a:srgbClr>
                </a:outerShdw>
              </a:effectLst>
            </a:endParaRPr>
          </a:p>
        </p:txBody>
      </p:sp>
      <p:sp>
        <p:nvSpPr>
          <p:cNvPr id="3" name="Espace réservé du contenu 2"/>
          <p:cNvSpPr>
            <a:spLocks noGrp="1"/>
          </p:cNvSpPr>
          <p:nvPr>
            <p:ph idx="1"/>
          </p:nvPr>
        </p:nvSpPr>
        <p:spPr>
          <a:xfrm>
            <a:off x="0" y="914400"/>
            <a:ext cx="8991600" cy="5334000"/>
          </a:xfrm>
        </p:spPr>
        <p:txBody>
          <a:bodyPr>
            <a:normAutofit/>
          </a:bodyPr>
          <a:lstStyle/>
          <a:p>
            <a:pPr marL="0" indent="0">
              <a:buNone/>
            </a:pPr>
            <a:r>
              <a:rPr lang="fr-FR" sz="2800" b="1" u="sng" dirty="0" smtClean="0">
                <a:latin typeface="Bahnschrift SemiBold" pitchFamily="34" charset="0"/>
              </a:rPr>
              <a:t>Arduino :</a:t>
            </a:r>
          </a:p>
          <a:p>
            <a:pPr marL="0" indent="0">
              <a:buNone/>
            </a:pPr>
            <a:r>
              <a:rPr lang="fr-FR" sz="2400" dirty="0">
                <a:latin typeface="Bahnschrift SemiBold" pitchFamily="34" charset="0"/>
              </a:rPr>
              <a:t/>
            </a:r>
            <a:br>
              <a:rPr lang="fr-FR" sz="2400" dirty="0">
                <a:latin typeface="Bahnschrift SemiBold" pitchFamily="34" charset="0"/>
              </a:rPr>
            </a:br>
            <a:r>
              <a:rPr lang="fr-FR" sz="2400" dirty="0">
                <a:latin typeface="Bahnschrift SemiBold" pitchFamily="34" charset="0"/>
              </a:rPr>
              <a:t>L’Arduino est le microcontrôleur central du système. Il est utilisé pour contrôler l'ensemble des composants, en particulier pour gérer la communication entre le lecteur RFID et les capteurs, ainsi que pour traiter les données capturées. Grâce à sa flexibilité et à sa facilité de programmation, l’Arduino permet de concevoir des prototypes fonctionnels rapidement.</a:t>
            </a:r>
          </a:p>
        </p:txBody>
      </p:sp>
      <p:pic>
        <p:nvPicPr>
          <p:cNvPr id="1027" name="Picture 3"/>
          <p:cNvPicPr>
            <a:picLocks noChangeAspect="1" noChangeArrowheads="1"/>
          </p:cNvPicPr>
          <p:nvPr/>
        </p:nvPicPr>
        <p:blipFill rotWithShape="1">
          <a:blip r:embed="rId2" cstate="print">
            <a:extLst>
              <a:ext uri="{BEBA8EAE-BF5A-486C-A8C5-ECC9F3942E4B}">
                <a14:imgProps xmlns:a14="http://schemas.microsoft.com/office/drawing/2010/main">
                  <a14:imgLayer r:embed="rId3">
                    <a14:imgEffect>
                      <a14:backgroundRemoval t="10000" b="90000" l="10000" r="90000"/>
                    </a14:imgEffect>
                  </a14:imgLayer>
                </a14:imgProps>
              </a:ext>
              <a:ext uri="{28A0092B-C50C-407E-A947-70E740481C1C}">
                <a14:useLocalDpi xmlns:a14="http://schemas.microsoft.com/office/drawing/2010/main" val="0"/>
              </a:ext>
            </a:extLst>
          </a:blip>
          <a:srcRect l="8396" t="8170" r="10353" b="9183"/>
          <a:stretch/>
        </p:blipFill>
        <p:spPr bwMode="auto">
          <a:xfrm>
            <a:off x="2590800" y="4191000"/>
            <a:ext cx="3498112" cy="2456121"/>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5016485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gradFill flip="none" rotWithShape="1">
          <a:gsLst>
            <a:gs pos="100000">
              <a:srgbClr val="9A9A9A"/>
            </a:gs>
            <a:gs pos="2000">
              <a:schemeClr val="tx2">
                <a:lumMod val="60000"/>
                <a:lumOff val="40000"/>
              </a:schemeClr>
            </a:gs>
            <a:gs pos="100000">
              <a:srgbClr val="C3C3C3"/>
            </a:gs>
            <a:gs pos="0">
              <a:srgbClr val="98BBE6"/>
            </a:gs>
            <a:gs pos="0">
              <a:srgbClr val="A2C1E8"/>
            </a:gs>
            <a:gs pos="48000">
              <a:schemeClr val="bg1">
                <a:tint val="45000"/>
                <a:shade val="99000"/>
                <a:satMod val="350000"/>
              </a:schemeClr>
            </a:gs>
            <a:gs pos="100000">
              <a:srgbClr val="A9A9A9"/>
            </a:gs>
            <a:gs pos="100000">
              <a:schemeClr val="bg1">
                <a:shade val="20000"/>
                <a:satMod val="255000"/>
              </a:schemeClr>
            </a:gs>
          </a:gsLst>
          <a:lin ang="6000000" scaled="0"/>
          <a:tileRect/>
        </a:gra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a:xfrm>
            <a:off x="0" y="0"/>
            <a:ext cx="9144000" cy="914400"/>
          </a:xfrm>
          <a:solidFill>
            <a:schemeClr val="accent1">
              <a:lumMod val="75000"/>
            </a:schemeClr>
          </a:solidFill>
          <a:scene3d>
            <a:camera prst="orthographicFront"/>
            <a:lightRig rig="threePt" dir="t"/>
          </a:scene3d>
          <a:sp3d>
            <a:bevelT/>
          </a:sp3d>
        </p:spPr>
        <p:txBody>
          <a:bodyPr/>
          <a:lstStyle/>
          <a:p>
            <a:pPr algn="l"/>
            <a:r>
              <a:rPr lang="fr-FR" dirty="0">
                <a:solidFill>
                  <a:schemeClr val="bg1"/>
                </a:solidFill>
                <a:effectLst>
                  <a:outerShdw blurRad="38100" dist="38100" dir="2700000" algn="tl">
                    <a:srgbClr val="000000">
                      <a:alpha val="43137"/>
                    </a:srgbClr>
                  </a:outerShdw>
                </a:effectLst>
                <a:latin typeface="Bahnschrift SemiBold" pitchFamily="34" charset="0"/>
              </a:rPr>
              <a:t>2. Composants du système </a:t>
            </a:r>
            <a:endParaRPr lang="fr-FR" dirty="0">
              <a:ln>
                <a:solidFill>
                  <a:schemeClr val="accent1">
                    <a:lumMod val="75000"/>
                  </a:schemeClr>
                </a:solidFill>
              </a:ln>
              <a:solidFill>
                <a:schemeClr val="tx2">
                  <a:lumMod val="75000"/>
                </a:schemeClr>
              </a:solidFill>
            </a:endParaRPr>
          </a:p>
        </p:txBody>
      </p:sp>
      <p:pic>
        <p:nvPicPr>
          <p:cNvPr id="2050" name="Picture 2"/>
          <p:cNvPicPr>
            <a:picLocks noGrp="1" noChangeAspect="1" noChangeArrowheads="1"/>
          </p:cNvPicPr>
          <p:nvPr>
            <p:ph idx="1"/>
          </p:nvPr>
        </p:nvPicPr>
        <p:blipFill rotWithShape="1">
          <a:blip r:embed="rId2" cstate="print">
            <a:extLst>
              <a:ext uri="{BEBA8EAE-BF5A-486C-A8C5-ECC9F3942E4B}">
                <a14:imgProps xmlns:a14="http://schemas.microsoft.com/office/drawing/2010/main">
                  <a14:imgLayer r:embed="rId3">
                    <a14:imgEffect>
                      <a14:backgroundRemoval t="0" b="94667" l="10000" r="100000"/>
                    </a14:imgEffect>
                  </a14:imgLayer>
                </a14:imgProps>
              </a:ext>
              <a:ext uri="{28A0092B-C50C-407E-A947-70E740481C1C}">
                <a14:useLocalDpi xmlns:a14="http://schemas.microsoft.com/office/drawing/2010/main" val="0"/>
              </a:ext>
            </a:extLst>
          </a:blip>
          <a:srcRect l="10556" t="11378" r="10636" b="5866"/>
          <a:stretch/>
        </p:blipFill>
        <p:spPr bwMode="auto">
          <a:xfrm>
            <a:off x="1981200" y="4823162"/>
            <a:ext cx="1961707" cy="1859876"/>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ZoneTexte 5"/>
          <p:cNvSpPr txBox="1"/>
          <p:nvPr/>
        </p:nvSpPr>
        <p:spPr>
          <a:xfrm>
            <a:off x="0" y="914400"/>
            <a:ext cx="8991600" cy="3908762"/>
          </a:xfrm>
          <a:prstGeom prst="rect">
            <a:avLst/>
          </a:prstGeom>
          <a:noFill/>
        </p:spPr>
        <p:txBody>
          <a:bodyPr wrap="square" rtlCol="0">
            <a:spAutoFit/>
          </a:bodyPr>
          <a:lstStyle/>
          <a:p>
            <a:r>
              <a:rPr lang="fr-FR" sz="2800" u="sng" dirty="0">
                <a:latin typeface="Bahnschrift SemiBold" pitchFamily="34" charset="0"/>
              </a:rPr>
              <a:t>Module RFID RC522 et étiquettes </a:t>
            </a:r>
            <a:r>
              <a:rPr lang="fr-FR" sz="2800" u="sng" dirty="0" smtClean="0">
                <a:latin typeface="Bahnschrift SemiBold" pitchFamily="34" charset="0"/>
              </a:rPr>
              <a:t>RFID :</a:t>
            </a:r>
          </a:p>
          <a:p>
            <a:endParaRPr lang="fr-FR" sz="2800" u="sng" dirty="0" smtClean="0">
              <a:latin typeface="Bahnschrift SemiBold" pitchFamily="34" charset="0"/>
            </a:endParaRPr>
          </a:p>
          <a:p>
            <a:r>
              <a:rPr lang="fr-FR" sz="2400" dirty="0" smtClean="0">
                <a:latin typeface="Bahnschrift SemiBold" pitchFamily="34" charset="0"/>
              </a:rPr>
              <a:t>Le </a:t>
            </a:r>
            <a:r>
              <a:rPr lang="fr-FR" sz="2400" dirty="0">
                <a:latin typeface="Bahnschrift SemiBold" pitchFamily="34" charset="0"/>
              </a:rPr>
              <a:t>module RFID RC522 est un lecteur RFID qui utilise la fréquence de 13,56 MHz pour lire les informations contenues dans les étiquettes RFID. Ces étiquettes RFID, lorsqu'elles sont scannées, fournissent un identifiant unique que le système utilise pour récupérer des informations spécifiques à la </a:t>
            </a:r>
            <a:r>
              <a:rPr lang="fr-FR" sz="2400" dirty="0" smtClean="0">
                <a:latin typeface="Bahnschrift SemiBold" pitchFamily="34" charset="0"/>
              </a:rPr>
              <a:t>marc- </a:t>
            </a:r>
            <a:r>
              <a:rPr lang="fr-FR" sz="2400" dirty="0" err="1" smtClean="0">
                <a:latin typeface="Bahnschrift SemiBold" pitchFamily="34" charset="0"/>
              </a:rPr>
              <a:t>handise</a:t>
            </a:r>
            <a:r>
              <a:rPr lang="fr-FR" sz="2400" dirty="0">
                <a:latin typeface="Bahnschrift SemiBold" pitchFamily="34" charset="0"/>
              </a:rPr>
              <a:t>, comme l'origine ou la date d'arrivée. Le RC522 </a:t>
            </a:r>
            <a:r>
              <a:rPr lang="fr-FR" sz="2400" dirty="0" err="1" smtClean="0">
                <a:latin typeface="Bahnschrift SemiBold" pitchFamily="34" charset="0"/>
              </a:rPr>
              <a:t>commu</a:t>
            </a:r>
            <a:r>
              <a:rPr lang="fr-FR" sz="2400" dirty="0" smtClean="0">
                <a:latin typeface="Bahnschrift SemiBold" pitchFamily="34" charset="0"/>
              </a:rPr>
              <a:t>-  nique </a:t>
            </a:r>
            <a:r>
              <a:rPr lang="fr-FR" sz="2400" dirty="0">
                <a:latin typeface="Bahnschrift SemiBold" pitchFamily="34" charset="0"/>
              </a:rPr>
              <a:t>avec l'Arduino via le protocole SPI, garantissant une lecture rapide et fiable.</a:t>
            </a:r>
            <a:endParaRPr lang="fr-FR" sz="2000" dirty="0">
              <a:latin typeface="Bahnschrift SemiBold" pitchFamily="34" charset="0"/>
            </a:endParaRPr>
          </a:p>
        </p:txBody>
      </p:sp>
      <p:pic>
        <p:nvPicPr>
          <p:cNvPr id="2051" name="Picture 3"/>
          <p:cNvPicPr>
            <a:picLocks noChangeAspect="1" noChangeArrowheads="1"/>
          </p:cNvPicPr>
          <p:nvPr/>
        </p:nvPicPr>
        <p:blipFill rotWithShape="1">
          <a:blip r:embed="rId4">
            <a:extLst>
              <a:ext uri="{28A0092B-C50C-407E-A947-70E740481C1C}">
                <a14:useLocalDpi xmlns:a14="http://schemas.microsoft.com/office/drawing/2010/main" val="0"/>
              </a:ext>
            </a:extLst>
          </a:blip>
          <a:srcRect t="26517" b="25896"/>
          <a:stretch/>
        </p:blipFill>
        <p:spPr bwMode="auto">
          <a:xfrm>
            <a:off x="5562600" y="4857321"/>
            <a:ext cx="1524000" cy="173003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3207339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tx2">
                <a:lumMod val="60000"/>
                <a:lumOff val="40000"/>
              </a:schemeClr>
            </a:gs>
            <a:gs pos="48000">
              <a:schemeClr val="bg1">
                <a:tint val="45000"/>
                <a:shade val="99000"/>
                <a:satMod val="350000"/>
                <a:lumMod val="98000"/>
                <a:lumOff val="2000"/>
              </a:schemeClr>
            </a:gs>
            <a:gs pos="100000">
              <a:schemeClr val="bg1">
                <a:shade val="20000"/>
                <a:satMod val="255000"/>
              </a:schemeClr>
            </a:gs>
          </a:gsLst>
          <a:lin ang="0" scaled="0"/>
          <a:tileRect/>
        </a:gra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a:xfrm>
            <a:off x="0" y="5316"/>
            <a:ext cx="9144000" cy="914400"/>
          </a:xfrm>
          <a:solidFill>
            <a:schemeClr val="accent1">
              <a:lumMod val="75000"/>
            </a:schemeClr>
          </a:solidFill>
          <a:scene3d>
            <a:camera prst="orthographicFront"/>
            <a:lightRig rig="threePt" dir="t"/>
          </a:scene3d>
          <a:sp3d>
            <a:bevelT/>
          </a:sp3d>
        </p:spPr>
        <p:txBody>
          <a:bodyPr/>
          <a:lstStyle/>
          <a:p>
            <a:pPr algn="l"/>
            <a:r>
              <a:rPr lang="fr-FR" dirty="0">
                <a:solidFill>
                  <a:schemeClr val="bg1"/>
                </a:solidFill>
                <a:effectLst>
                  <a:outerShdw blurRad="38100" dist="38100" dir="2700000" algn="tl">
                    <a:srgbClr val="000000">
                      <a:alpha val="43137"/>
                    </a:srgbClr>
                  </a:outerShdw>
                </a:effectLst>
                <a:latin typeface="Bahnschrift SemiBold" pitchFamily="34" charset="0"/>
              </a:rPr>
              <a:t>2. Composants du système </a:t>
            </a:r>
            <a:endParaRPr lang="fr-FR" dirty="0"/>
          </a:p>
        </p:txBody>
      </p:sp>
      <p:sp>
        <p:nvSpPr>
          <p:cNvPr id="3" name="Espace réservé du contenu 2"/>
          <p:cNvSpPr>
            <a:spLocks noGrp="1"/>
          </p:cNvSpPr>
          <p:nvPr>
            <p:ph idx="1"/>
          </p:nvPr>
        </p:nvSpPr>
        <p:spPr>
          <a:xfrm>
            <a:off x="0" y="914400"/>
            <a:ext cx="9067800" cy="4876800"/>
          </a:xfrm>
        </p:spPr>
        <p:txBody>
          <a:bodyPr>
            <a:normAutofit fontScale="92500" lnSpcReduction="10000"/>
          </a:bodyPr>
          <a:lstStyle/>
          <a:p>
            <a:pPr marL="0" indent="0">
              <a:buNone/>
            </a:pPr>
            <a:r>
              <a:rPr lang="fr-FR" sz="2800" u="sng" dirty="0" smtClean="0">
                <a:latin typeface="Bahnschrift SemiBold" pitchFamily="34" charset="0"/>
              </a:rPr>
              <a:t>Capteurs </a:t>
            </a:r>
            <a:r>
              <a:rPr lang="fr-FR" sz="2800" u="sng" dirty="0">
                <a:latin typeface="Bahnschrift SemiBold" pitchFamily="34" charset="0"/>
              </a:rPr>
              <a:t>et </a:t>
            </a:r>
            <a:r>
              <a:rPr lang="fr-FR" sz="2800" u="sng" dirty="0" smtClean="0">
                <a:latin typeface="Bahnschrift SemiBold" pitchFamily="34" charset="0"/>
              </a:rPr>
              <a:t>Actionneurs :</a:t>
            </a:r>
          </a:p>
          <a:p>
            <a:pPr marL="0" indent="0">
              <a:buNone/>
            </a:pPr>
            <a:r>
              <a:rPr lang="fr-FR" sz="2400" dirty="0">
                <a:latin typeface="Bahnschrift SemiBold" pitchFamily="34" charset="0"/>
              </a:rPr>
              <a:t/>
            </a:r>
            <a:br>
              <a:rPr lang="fr-FR" sz="2400" dirty="0">
                <a:latin typeface="Bahnschrift SemiBold" pitchFamily="34" charset="0"/>
              </a:rPr>
            </a:br>
            <a:r>
              <a:rPr lang="fr-FR" sz="2400" dirty="0">
                <a:latin typeface="Bahnschrift SemiBold" pitchFamily="34" charset="0"/>
              </a:rPr>
              <a:t>En complément du lecteur RFID, des capteurs et actionneurs peuvent être ajoutés pour enrichir le système. Par exemple :</a:t>
            </a:r>
          </a:p>
          <a:p>
            <a:r>
              <a:rPr lang="fr-FR" sz="2400" u="sng" dirty="0">
                <a:latin typeface="Bahnschrift SemiBold" pitchFamily="34" charset="0"/>
              </a:rPr>
              <a:t>Capteur de température : </a:t>
            </a:r>
            <a:r>
              <a:rPr lang="fr-FR" sz="2400" dirty="0">
                <a:latin typeface="Bahnschrift SemiBold" pitchFamily="34" charset="0"/>
              </a:rPr>
              <a:t>pour surveiller les conditions de l’environnement où se trouve la marchandise.</a:t>
            </a:r>
          </a:p>
          <a:p>
            <a:r>
              <a:rPr lang="fr-FR" sz="2400" u="sng" dirty="0">
                <a:latin typeface="Bahnschrift SemiBold" pitchFamily="34" charset="0"/>
              </a:rPr>
              <a:t>Capteur d’humidité : </a:t>
            </a:r>
            <a:r>
              <a:rPr lang="fr-FR" sz="2400" dirty="0">
                <a:latin typeface="Bahnschrift SemiBold" pitchFamily="34" charset="0"/>
              </a:rPr>
              <a:t>pour assurer que les produits sont stockés dans des conditions optimales.</a:t>
            </a:r>
          </a:p>
          <a:p>
            <a:r>
              <a:rPr lang="fr-FR" sz="2400" b="1" u="sng" dirty="0">
                <a:latin typeface="Bahnschrift SemiBold" pitchFamily="34" charset="0"/>
              </a:rPr>
              <a:t>Actionneur (comme un servomoteur ou une LED)</a:t>
            </a:r>
            <a:r>
              <a:rPr lang="fr-FR" sz="2400" u="sng" dirty="0">
                <a:latin typeface="Bahnschrift SemiBold" pitchFamily="34" charset="0"/>
              </a:rPr>
              <a:t> : </a:t>
            </a:r>
            <a:r>
              <a:rPr lang="fr-FR" sz="2400" dirty="0">
                <a:latin typeface="Bahnschrift SemiBold" pitchFamily="34" charset="0"/>
              </a:rPr>
              <a:t>utilisé pour indiquer visuellement ou auditivement qu'une étiquette RFID a été scannée ou qu'une alerte a été déclenchée. Le servomoteur peut également être employé pour l'ouverture ou la fermeture automatique d'un compartiment lorsque les marchandises sont scannées.</a:t>
            </a:r>
            <a:endParaRPr lang="fr-FR" sz="2200" dirty="0">
              <a:latin typeface="Bahnschrift SemiBold" pitchFamily="34" charset="0"/>
            </a:endParaRPr>
          </a:p>
        </p:txBody>
      </p:sp>
    </p:spTree>
    <p:extLst>
      <p:ext uri="{BB962C8B-B14F-4D97-AF65-F5344CB8AC3E}">
        <p14:creationId xmlns:p14="http://schemas.microsoft.com/office/powerpoint/2010/main" val="271132947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gradFill flip="none" rotWithShape="1">
          <a:gsLst>
            <a:gs pos="2000">
              <a:srgbClr val="ABC7EA"/>
            </a:gs>
            <a:gs pos="49000">
              <a:srgbClr val="F4F4F4"/>
            </a:gs>
            <a:gs pos="92000">
              <a:srgbClr val="999999"/>
            </a:gs>
            <a:gs pos="76254">
              <a:srgbClr val="ABABAB"/>
            </a:gs>
            <a:gs pos="69000">
              <a:srgbClr val="BABABA"/>
            </a:gs>
            <a:gs pos="8000">
              <a:schemeClr val="tx2">
                <a:lumMod val="60000"/>
                <a:lumOff val="40000"/>
              </a:schemeClr>
            </a:gs>
            <a:gs pos="23000">
              <a:schemeClr val="bg1">
                <a:tint val="45000"/>
                <a:shade val="99000"/>
                <a:satMod val="350000"/>
              </a:schemeClr>
            </a:gs>
            <a:gs pos="100000">
              <a:schemeClr val="bg1">
                <a:shade val="20000"/>
                <a:satMod val="255000"/>
              </a:schemeClr>
            </a:gs>
          </a:gsLst>
          <a:lin ang="0" scaled="0"/>
          <a:tileRect/>
        </a:gra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a:xfrm>
            <a:off x="0" y="0"/>
            <a:ext cx="9144000" cy="914400"/>
          </a:xfrm>
          <a:solidFill>
            <a:schemeClr val="accent1">
              <a:lumMod val="75000"/>
            </a:schemeClr>
          </a:solidFill>
          <a:scene3d>
            <a:camera prst="orthographicFront"/>
            <a:lightRig rig="threePt" dir="t"/>
          </a:scene3d>
          <a:sp3d>
            <a:bevelT/>
          </a:sp3d>
        </p:spPr>
        <p:txBody>
          <a:bodyPr/>
          <a:lstStyle/>
          <a:p>
            <a:pPr algn="l"/>
            <a:r>
              <a:rPr lang="fr-FR" dirty="0">
                <a:solidFill>
                  <a:schemeClr val="bg1"/>
                </a:solidFill>
                <a:effectLst>
                  <a:outerShdw blurRad="38100" dist="38100" dir="2700000" algn="tl">
                    <a:srgbClr val="000000">
                      <a:alpha val="43137"/>
                    </a:srgbClr>
                  </a:outerShdw>
                </a:effectLst>
                <a:latin typeface="Bahnschrift SemiBold" pitchFamily="34" charset="0"/>
              </a:rPr>
              <a:t>2. Composants du système </a:t>
            </a:r>
            <a:endParaRPr lang="fr-FR" dirty="0"/>
          </a:p>
        </p:txBody>
      </p:sp>
      <p:sp>
        <p:nvSpPr>
          <p:cNvPr id="3" name="Espace réservé du contenu 2"/>
          <p:cNvSpPr>
            <a:spLocks noGrp="1"/>
          </p:cNvSpPr>
          <p:nvPr>
            <p:ph idx="1"/>
          </p:nvPr>
        </p:nvSpPr>
        <p:spPr>
          <a:xfrm>
            <a:off x="10632" y="909084"/>
            <a:ext cx="9133368" cy="4729716"/>
          </a:xfrm>
        </p:spPr>
        <p:txBody>
          <a:bodyPr>
            <a:normAutofit/>
          </a:bodyPr>
          <a:lstStyle/>
          <a:p>
            <a:pPr marL="0" indent="0">
              <a:buNone/>
            </a:pPr>
            <a:r>
              <a:rPr lang="fr-FR" sz="2800" u="sng" dirty="0">
                <a:latin typeface="Bahnschrift SemiBold" pitchFamily="34" charset="0"/>
              </a:rPr>
              <a:t>Architecture </a:t>
            </a:r>
            <a:r>
              <a:rPr lang="fr-FR" sz="2800" u="sng" dirty="0" smtClean="0">
                <a:latin typeface="Bahnschrift SemiBold" pitchFamily="34" charset="0"/>
              </a:rPr>
              <a:t>Globale :</a:t>
            </a:r>
          </a:p>
          <a:p>
            <a:pPr marL="0" indent="0">
              <a:buNone/>
            </a:pPr>
            <a:r>
              <a:rPr lang="fr-FR" sz="2400" dirty="0" smtClean="0">
                <a:latin typeface="Bahnschrift SemiBold" pitchFamily="34" charset="0"/>
              </a:rPr>
              <a:t>L'architecture </a:t>
            </a:r>
            <a:r>
              <a:rPr lang="fr-FR" sz="2400" dirty="0">
                <a:latin typeface="Bahnschrift SemiBold" pitchFamily="34" charset="0"/>
              </a:rPr>
              <a:t>globale du système intègre les différents composants pour une interaction fluide. Le module RFID RC522 est connecté à l'Arduino pour la lecture des étiquettes RFID, tandis que les capteurs de température et d'humidité sont branchés pour surveiller les conditions de stockage. Les actionneurs, comme les LED et le servomoteur, fournissent un retour en temps réel et permettent des actions mécaniques automatisées. </a:t>
            </a:r>
          </a:p>
        </p:txBody>
      </p:sp>
    </p:spTree>
    <p:extLst>
      <p:ext uri="{BB962C8B-B14F-4D97-AF65-F5344CB8AC3E}">
        <p14:creationId xmlns:p14="http://schemas.microsoft.com/office/powerpoint/2010/main" val="322119613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gradFill flip="none" rotWithShape="1">
          <a:gsLst>
            <a:gs pos="19000">
              <a:srgbClr val="C7DAF1"/>
            </a:gs>
            <a:gs pos="16000">
              <a:srgbClr val="B0CAEB"/>
            </a:gs>
            <a:gs pos="0">
              <a:schemeClr val="tx2">
                <a:lumMod val="60000"/>
                <a:lumOff val="40000"/>
              </a:schemeClr>
            </a:gs>
            <a:gs pos="83000">
              <a:srgbClr val="E9E9E9"/>
            </a:gs>
            <a:gs pos="52000">
              <a:schemeClr val="bg1">
                <a:tint val="45000"/>
                <a:shade val="99000"/>
                <a:satMod val="350000"/>
              </a:schemeClr>
            </a:gs>
            <a:gs pos="100000">
              <a:schemeClr val="bg1">
                <a:shade val="20000"/>
                <a:satMod val="255000"/>
              </a:schemeClr>
            </a:gs>
          </a:gsLst>
          <a:lin ang="5400000" scaled="0"/>
          <a:tileRect/>
        </a:gradFill>
        <a:effectLst/>
      </p:bgPr>
    </p:bg>
    <p:spTree>
      <p:nvGrpSpPr>
        <p:cNvPr id="1" name=""/>
        <p:cNvGrpSpPr/>
        <p:nvPr/>
      </p:nvGrpSpPr>
      <p:grpSpPr>
        <a:xfrm>
          <a:off x="0" y="0"/>
          <a:ext cx="0" cy="0"/>
          <a:chOff x="0" y="0"/>
          <a:chExt cx="0" cy="0"/>
        </a:xfrm>
      </p:grpSpPr>
      <p:pic>
        <p:nvPicPr>
          <p:cNvPr id="4" name="Image 3"/>
          <p:cNvPicPr>
            <a:picLocks noChangeAspect="1"/>
          </p:cNvPicPr>
          <p:nvPr/>
        </p:nvPicPr>
        <p:blipFill>
          <a:blip r:embed="rId2">
            <a:extLst>
              <a:ext uri="{BEBA8EAE-BF5A-486C-A8C5-ECC9F3942E4B}">
                <a14:imgProps xmlns:a14="http://schemas.microsoft.com/office/drawing/2010/main">
                  <a14:imgLayer r:embed="rId3">
                    <a14:imgEffect>
                      <a14:backgroundRemoval t="6769" b="96070" l="0" r="98559">
                        <a14:foregroundMark x1="16567" y1="71397" x2="16567" y2="71397"/>
                        <a14:foregroundMark x1="16567" y1="71397" x2="16807" y2="75109"/>
                        <a14:foregroundMark x1="21248" y1="71397" x2="20648" y2="76201"/>
                      </a14:backgroundRemoval>
                    </a14:imgEffect>
                  </a14:imgLayer>
                </a14:imgProps>
              </a:ext>
              <a:ext uri="{28A0092B-C50C-407E-A947-70E740481C1C}">
                <a14:useLocalDpi xmlns:a14="http://schemas.microsoft.com/office/drawing/2010/main" val="0"/>
              </a:ext>
            </a:extLst>
          </a:blip>
          <a:stretch>
            <a:fillRect/>
          </a:stretch>
        </p:blipFill>
        <p:spPr>
          <a:xfrm>
            <a:off x="580636" y="1219200"/>
            <a:ext cx="7935432" cy="4363059"/>
          </a:xfrm>
          <a:prstGeom prst="rect">
            <a:avLst/>
          </a:prstGeom>
          <a:ln w="28575">
            <a:solidFill>
              <a:schemeClr val="tx1"/>
            </a:solidFill>
          </a:ln>
        </p:spPr>
      </p:pic>
    </p:spTree>
    <p:extLst>
      <p:ext uri="{BB962C8B-B14F-4D97-AF65-F5344CB8AC3E}">
        <p14:creationId xmlns:p14="http://schemas.microsoft.com/office/powerpoint/2010/main" val="23999612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gradFill flip="none" rotWithShape="1">
          <a:gsLst>
            <a:gs pos="96000">
              <a:srgbClr val="A5A5A5"/>
            </a:gs>
            <a:gs pos="88000">
              <a:srgbClr val="C1C1C1"/>
            </a:gs>
            <a:gs pos="72000">
              <a:srgbClr val="D9D9D9"/>
            </a:gs>
            <a:gs pos="12000">
              <a:srgbClr val="ADC9EA"/>
            </a:gs>
            <a:gs pos="0">
              <a:schemeClr val="tx2">
                <a:lumMod val="60000"/>
                <a:lumOff val="40000"/>
              </a:schemeClr>
            </a:gs>
            <a:gs pos="63000">
              <a:srgbClr val="ECECEC"/>
            </a:gs>
            <a:gs pos="51000">
              <a:srgbClr val="F7F7F7"/>
            </a:gs>
            <a:gs pos="43000">
              <a:schemeClr val="bg1">
                <a:tint val="45000"/>
                <a:shade val="99000"/>
                <a:satMod val="350000"/>
              </a:schemeClr>
            </a:gs>
            <a:gs pos="100000">
              <a:schemeClr val="bg1">
                <a:shade val="20000"/>
                <a:satMod val="255000"/>
              </a:schemeClr>
            </a:gs>
          </a:gsLst>
          <a:lin ang="1800000" scaled="0"/>
          <a:tileRect/>
        </a:gra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a:xfrm>
            <a:off x="0" y="36786"/>
            <a:ext cx="9144000" cy="914400"/>
          </a:xfrm>
          <a:solidFill>
            <a:schemeClr val="accent1">
              <a:lumMod val="75000"/>
            </a:schemeClr>
          </a:solidFill>
          <a:scene3d>
            <a:camera prst="orthographicFront"/>
            <a:lightRig rig="threePt" dir="t"/>
          </a:scene3d>
          <a:sp3d>
            <a:bevelT/>
          </a:sp3d>
        </p:spPr>
        <p:txBody>
          <a:bodyPr>
            <a:normAutofit/>
          </a:bodyPr>
          <a:lstStyle/>
          <a:p>
            <a:pPr algn="l"/>
            <a:r>
              <a:rPr lang="fr-FR" dirty="0">
                <a:solidFill>
                  <a:schemeClr val="bg1"/>
                </a:solidFill>
                <a:effectLst>
                  <a:outerShdw blurRad="38100" dist="38100" dir="2700000" algn="tl">
                    <a:srgbClr val="000000">
                      <a:alpha val="43137"/>
                    </a:srgbClr>
                  </a:outerShdw>
                </a:effectLst>
                <a:latin typeface="Bahnschrift SemiBold" pitchFamily="34" charset="0"/>
              </a:rPr>
              <a:t>3. Fonctionnement du </a:t>
            </a:r>
            <a:r>
              <a:rPr lang="fr-FR" dirty="0" smtClean="0">
                <a:solidFill>
                  <a:schemeClr val="bg1"/>
                </a:solidFill>
                <a:effectLst>
                  <a:outerShdw blurRad="38100" dist="38100" dir="2700000" algn="tl">
                    <a:srgbClr val="000000">
                      <a:alpha val="43137"/>
                    </a:srgbClr>
                  </a:outerShdw>
                </a:effectLst>
                <a:latin typeface="Bahnschrift SemiBold" pitchFamily="34" charset="0"/>
              </a:rPr>
              <a:t>système</a:t>
            </a:r>
            <a:endParaRPr lang="fr-FR" dirty="0">
              <a:solidFill>
                <a:schemeClr val="bg1"/>
              </a:solidFill>
              <a:latin typeface="Bahnschrift SemiBold" pitchFamily="34" charset="0"/>
            </a:endParaRPr>
          </a:p>
        </p:txBody>
      </p:sp>
      <p:sp>
        <p:nvSpPr>
          <p:cNvPr id="3" name="Espace réservé du contenu 2"/>
          <p:cNvSpPr>
            <a:spLocks noGrp="1"/>
          </p:cNvSpPr>
          <p:nvPr>
            <p:ph idx="1"/>
          </p:nvPr>
        </p:nvSpPr>
        <p:spPr>
          <a:xfrm>
            <a:off x="0" y="990600"/>
            <a:ext cx="9144000" cy="4953000"/>
          </a:xfrm>
        </p:spPr>
        <p:txBody>
          <a:bodyPr>
            <a:normAutofit lnSpcReduction="10000"/>
          </a:bodyPr>
          <a:lstStyle/>
          <a:p>
            <a:pPr marL="0" indent="0">
              <a:buNone/>
            </a:pPr>
            <a:r>
              <a:rPr lang="fr-FR" sz="2800" u="sng" dirty="0">
                <a:latin typeface="Bahnschrift SemiBold" pitchFamily="34" charset="0"/>
              </a:rPr>
              <a:t>Identification des colis par RFID </a:t>
            </a:r>
            <a:r>
              <a:rPr lang="fr-FR" sz="2800" u="sng" dirty="0" smtClean="0">
                <a:latin typeface="Bahnschrift SemiBold" pitchFamily="34" charset="0"/>
              </a:rPr>
              <a:t>:</a:t>
            </a:r>
          </a:p>
          <a:p>
            <a:pPr marL="0" indent="0">
              <a:buNone/>
            </a:pPr>
            <a:endParaRPr lang="fr-FR" sz="2800" u="sng" dirty="0" smtClean="0">
              <a:latin typeface="Bahnschrift SemiBold" pitchFamily="34" charset="0"/>
            </a:endParaRPr>
          </a:p>
          <a:p>
            <a:pPr marL="0" indent="0">
              <a:buNone/>
            </a:pPr>
            <a:r>
              <a:rPr lang="fr-FR" sz="2400" dirty="0" smtClean="0">
                <a:latin typeface="Bahnschrift SemiBold" pitchFamily="34" charset="0"/>
              </a:rPr>
              <a:t>Chaque </a:t>
            </a:r>
            <a:r>
              <a:rPr lang="fr-FR" sz="2400" dirty="0">
                <a:latin typeface="Bahnschrift SemiBold" pitchFamily="34" charset="0"/>
              </a:rPr>
              <a:t>colis est identifié grâce à une puce RFID, qui contient des informations cruciales telles que </a:t>
            </a:r>
            <a:r>
              <a:rPr lang="fr-FR" sz="2400" dirty="0" smtClean="0">
                <a:latin typeface="Bahnschrift SemiBold" pitchFamily="34" charset="0"/>
              </a:rPr>
              <a:t>:</a:t>
            </a:r>
          </a:p>
          <a:p>
            <a:r>
              <a:rPr lang="fr-FR" sz="2400" u="sng" dirty="0" smtClean="0">
                <a:latin typeface="Bahnschrift SemiBold" pitchFamily="34" charset="0"/>
              </a:rPr>
              <a:t>Nom </a:t>
            </a:r>
            <a:r>
              <a:rPr lang="fr-FR" sz="2400" u="sng" dirty="0">
                <a:latin typeface="Bahnschrift SemiBold" pitchFamily="34" charset="0"/>
              </a:rPr>
              <a:t>du cargo : </a:t>
            </a:r>
            <a:r>
              <a:rPr lang="fr-FR" sz="2400" dirty="0">
                <a:latin typeface="Bahnschrift SemiBold" pitchFamily="34" charset="0"/>
              </a:rPr>
              <a:t>Le nom spécifique du conteneur ou du chargement</a:t>
            </a:r>
            <a:r>
              <a:rPr lang="fr-FR" sz="2400" dirty="0" smtClean="0">
                <a:latin typeface="Bahnschrift SemiBold" pitchFamily="34" charset="0"/>
              </a:rPr>
              <a:t>.</a:t>
            </a:r>
          </a:p>
          <a:p>
            <a:r>
              <a:rPr lang="fr-FR" sz="2400" u="sng" dirty="0" smtClean="0">
                <a:latin typeface="Bahnschrift SemiBold" pitchFamily="34" charset="0"/>
              </a:rPr>
              <a:t>Pays </a:t>
            </a:r>
            <a:r>
              <a:rPr lang="fr-FR" sz="2400" u="sng" dirty="0">
                <a:latin typeface="Bahnschrift SemiBold" pitchFamily="34" charset="0"/>
              </a:rPr>
              <a:t>d'origine : </a:t>
            </a:r>
            <a:r>
              <a:rPr lang="fr-FR" sz="2400" dirty="0">
                <a:latin typeface="Bahnschrift SemiBold" pitchFamily="34" charset="0"/>
              </a:rPr>
              <a:t>Le pays d'où provient le colis</a:t>
            </a:r>
            <a:r>
              <a:rPr lang="fr-FR" sz="2400" dirty="0" smtClean="0">
                <a:latin typeface="Bahnschrift SemiBold" pitchFamily="34" charset="0"/>
              </a:rPr>
              <a:t>.</a:t>
            </a:r>
          </a:p>
          <a:p>
            <a:r>
              <a:rPr lang="fr-FR" sz="2400" u="sng" dirty="0" smtClean="0">
                <a:latin typeface="Bahnschrift SemiBold" pitchFamily="34" charset="0"/>
              </a:rPr>
              <a:t>Date </a:t>
            </a:r>
            <a:r>
              <a:rPr lang="fr-FR" sz="2400" u="sng" dirty="0">
                <a:latin typeface="Bahnschrift SemiBold" pitchFamily="34" charset="0"/>
              </a:rPr>
              <a:t>d'arrivée : </a:t>
            </a:r>
            <a:r>
              <a:rPr lang="fr-FR" sz="2400" dirty="0">
                <a:latin typeface="Bahnschrift SemiBold" pitchFamily="34" charset="0"/>
              </a:rPr>
              <a:t>La date et l'heure d'arrivée du colis</a:t>
            </a:r>
            <a:r>
              <a:rPr lang="fr-FR" sz="2400" dirty="0" smtClean="0">
                <a:latin typeface="Bahnschrift SemiBold" pitchFamily="34" charset="0"/>
              </a:rPr>
              <a:t>.</a:t>
            </a:r>
          </a:p>
          <a:p>
            <a:r>
              <a:rPr lang="fr-FR" sz="2400" u="sng" dirty="0" smtClean="0">
                <a:latin typeface="Bahnschrift SemiBold" pitchFamily="34" charset="0"/>
              </a:rPr>
              <a:t>Contenu </a:t>
            </a:r>
            <a:r>
              <a:rPr lang="fr-FR" sz="2400" u="sng" dirty="0">
                <a:latin typeface="Bahnschrift SemiBold" pitchFamily="34" charset="0"/>
              </a:rPr>
              <a:t>du cargo : </a:t>
            </a:r>
            <a:r>
              <a:rPr lang="fr-FR" sz="2400" dirty="0">
                <a:latin typeface="Bahnschrift SemiBold" pitchFamily="34" charset="0"/>
              </a:rPr>
              <a:t>La description du contenu du colis pour assurer la bonne gestion</a:t>
            </a:r>
            <a:r>
              <a:rPr lang="fr-FR" sz="2400" dirty="0" smtClean="0">
                <a:latin typeface="Bahnschrift SemiBold" pitchFamily="34" charset="0"/>
              </a:rPr>
              <a:t>.</a:t>
            </a:r>
          </a:p>
          <a:p>
            <a:pPr marL="0" indent="0">
              <a:buNone/>
            </a:pPr>
            <a:r>
              <a:rPr lang="fr-FR" sz="2400" dirty="0" smtClean="0">
                <a:latin typeface="Bahnschrift SemiBold" pitchFamily="34" charset="0"/>
              </a:rPr>
              <a:t>Ce </a:t>
            </a:r>
            <a:r>
              <a:rPr lang="fr-FR" sz="2400" dirty="0">
                <a:latin typeface="Bahnschrift SemiBold" pitchFamily="34" charset="0"/>
              </a:rPr>
              <a:t>système permet un suivi précis et automatisé des colis à chaque étape de leur transit.</a:t>
            </a:r>
          </a:p>
        </p:txBody>
      </p:sp>
    </p:spTree>
    <p:extLst>
      <p:ext uri="{BB962C8B-B14F-4D97-AF65-F5344CB8AC3E}">
        <p14:creationId xmlns:p14="http://schemas.microsoft.com/office/powerpoint/2010/main" val="148993850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tx2">
                <a:lumMod val="60000"/>
                <a:lumOff val="40000"/>
              </a:schemeClr>
            </a:gs>
            <a:gs pos="17497">
              <a:srgbClr val="7FAAE0"/>
            </a:gs>
            <a:gs pos="31640">
              <a:srgbClr val="A1C1E8"/>
            </a:gs>
            <a:gs pos="70000">
              <a:schemeClr val="bg1">
                <a:tint val="45000"/>
                <a:shade val="99000"/>
                <a:satMod val="350000"/>
              </a:schemeClr>
            </a:gs>
            <a:gs pos="100000">
              <a:schemeClr val="bg1">
                <a:shade val="20000"/>
                <a:satMod val="255000"/>
              </a:scheme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a:xfrm>
            <a:off x="0" y="0"/>
            <a:ext cx="9144000" cy="914400"/>
          </a:xfrm>
          <a:solidFill>
            <a:schemeClr val="accent1">
              <a:lumMod val="75000"/>
            </a:schemeClr>
          </a:solidFill>
          <a:scene3d>
            <a:camera prst="orthographicFront"/>
            <a:lightRig rig="threePt" dir="t"/>
          </a:scene3d>
          <a:sp3d>
            <a:bevelT/>
          </a:sp3d>
        </p:spPr>
        <p:txBody>
          <a:bodyPr/>
          <a:lstStyle/>
          <a:p>
            <a:pPr algn="l"/>
            <a:r>
              <a:rPr lang="fr-FR" dirty="0">
                <a:solidFill>
                  <a:schemeClr val="bg1"/>
                </a:solidFill>
                <a:effectLst>
                  <a:outerShdw blurRad="38100" dist="38100" dir="2700000" algn="tl">
                    <a:srgbClr val="000000">
                      <a:alpha val="43137"/>
                    </a:srgbClr>
                  </a:outerShdw>
                </a:effectLst>
                <a:latin typeface="Bahnschrift SemiBold" pitchFamily="34" charset="0"/>
              </a:rPr>
              <a:t>3. Fonctionnement du système</a:t>
            </a:r>
            <a:endParaRPr lang="fr-FR" dirty="0"/>
          </a:p>
        </p:txBody>
      </p:sp>
      <p:sp>
        <p:nvSpPr>
          <p:cNvPr id="3" name="Espace réservé du contenu 2"/>
          <p:cNvSpPr>
            <a:spLocks noGrp="1"/>
          </p:cNvSpPr>
          <p:nvPr>
            <p:ph idx="1"/>
          </p:nvPr>
        </p:nvSpPr>
        <p:spPr>
          <a:xfrm>
            <a:off x="24808" y="914400"/>
            <a:ext cx="9119192" cy="4525963"/>
          </a:xfrm>
        </p:spPr>
        <p:txBody>
          <a:bodyPr>
            <a:normAutofit/>
          </a:bodyPr>
          <a:lstStyle/>
          <a:p>
            <a:pPr marL="0" indent="0">
              <a:buNone/>
            </a:pPr>
            <a:r>
              <a:rPr lang="fr-FR" sz="2800" u="sng" dirty="0">
                <a:latin typeface="Bahnschrift SemiBold" pitchFamily="34" charset="0"/>
              </a:rPr>
              <a:t>Contrôle de la porte de cargo par </a:t>
            </a:r>
            <a:r>
              <a:rPr lang="fr-FR" sz="2800" u="sng" dirty="0" smtClean="0">
                <a:latin typeface="Bahnschrift SemiBold" pitchFamily="34" charset="0"/>
              </a:rPr>
              <a:t>servomoteur :</a:t>
            </a:r>
          </a:p>
          <a:p>
            <a:pPr marL="0" indent="0">
              <a:buNone/>
            </a:pPr>
            <a:endParaRPr lang="fr-FR" sz="2400" dirty="0" smtClean="0">
              <a:latin typeface="Bahnschrift SemiBold" pitchFamily="34" charset="0"/>
            </a:endParaRPr>
          </a:p>
          <a:p>
            <a:pPr marL="0" indent="0">
              <a:buNone/>
            </a:pPr>
            <a:r>
              <a:rPr lang="fr-FR" sz="2400" dirty="0" smtClean="0">
                <a:latin typeface="Bahnschrift SemiBold" pitchFamily="34" charset="0"/>
              </a:rPr>
              <a:t>En </a:t>
            </a:r>
            <a:r>
              <a:rPr lang="fr-FR" sz="2400" dirty="0">
                <a:latin typeface="Bahnschrift SemiBold" pitchFamily="34" charset="0"/>
              </a:rPr>
              <a:t>plus de l'identification RFID, le système intègre un servomoteur pour contrôler l'ouverture et la fermeture de la porte du cargo. Lorsqu'un colis est détecté, le système vérifie l'autorisation d'accès avant d'actionner le servomoteur pour déverrouiller la porte. Cela permet de sécuriser l'accès aux colis et d'éviter les entrées non autorisées.</a:t>
            </a:r>
          </a:p>
        </p:txBody>
      </p:sp>
    </p:spTree>
    <p:extLst>
      <p:ext uri="{BB962C8B-B14F-4D97-AF65-F5344CB8AC3E}">
        <p14:creationId xmlns:p14="http://schemas.microsoft.com/office/powerpoint/2010/main" val="416776397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gradFill flip="none" rotWithShape="1">
          <a:gsLst>
            <a:gs pos="23000">
              <a:srgbClr val="C6D9F0"/>
            </a:gs>
            <a:gs pos="81640">
              <a:srgbClr val="A4A4A4"/>
            </a:gs>
            <a:gs pos="0">
              <a:schemeClr val="tx2">
                <a:lumMod val="60000"/>
                <a:lumOff val="40000"/>
              </a:schemeClr>
            </a:gs>
            <a:gs pos="15421">
              <a:srgbClr val="96B9E5"/>
            </a:gs>
            <a:gs pos="46000">
              <a:schemeClr val="bg1">
                <a:tint val="45000"/>
                <a:shade val="99000"/>
                <a:satMod val="350000"/>
              </a:schemeClr>
            </a:gs>
            <a:gs pos="100000">
              <a:schemeClr val="bg1">
                <a:shade val="20000"/>
                <a:satMod val="255000"/>
              </a:schemeClr>
            </a:gs>
          </a:gsLst>
          <a:path path="circle">
            <a:fillToRect t="100000" r="100000"/>
          </a:path>
          <a:tileRect l="-100000" b="-100000"/>
        </a:gra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a:xfrm>
            <a:off x="1772" y="5316"/>
            <a:ext cx="9144000" cy="914400"/>
          </a:xfrm>
          <a:solidFill>
            <a:schemeClr val="accent1">
              <a:lumMod val="75000"/>
            </a:schemeClr>
          </a:solidFill>
          <a:scene3d>
            <a:camera prst="orthographicFront"/>
            <a:lightRig rig="threePt" dir="t"/>
          </a:scene3d>
          <a:sp3d>
            <a:bevelT/>
          </a:sp3d>
        </p:spPr>
        <p:txBody>
          <a:bodyPr/>
          <a:lstStyle/>
          <a:p>
            <a:pPr algn="l"/>
            <a:r>
              <a:rPr lang="fr-FR" dirty="0">
                <a:solidFill>
                  <a:schemeClr val="bg1"/>
                </a:solidFill>
                <a:effectLst>
                  <a:outerShdw blurRad="38100" dist="38100" dir="2700000" algn="tl">
                    <a:srgbClr val="000000">
                      <a:alpha val="43137"/>
                    </a:srgbClr>
                  </a:outerShdw>
                </a:effectLst>
                <a:latin typeface="Bahnschrift SemiBold" pitchFamily="34" charset="0"/>
              </a:rPr>
              <a:t>3. Fonctionnement du système</a:t>
            </a:r>
            <a:endParaRPr lang="fr-FR" dirty="0"/>
          </a:p>
        </p:txBody>
      </p:sp>
      <p:sp>
        <p:nvSpPr>
          <p:cNvPr id="3" name="Espace réservé du contenu 2"/>
          <p:cNvSpPr>
            <a:spLocks noGrp="1"/>
          </p:cNvSpPr>
          <p:nvPr>
            <p:ph idx="1"/>
          </p:nvPr>
        </p:nvSpPr>
        <p:spPr>
          <a:xfrm>
            <a:off x="0" y="914400"/>
            <a:ext cx="9144000" cy="4267200"/>
          </a:xfrm>
        </p:spPr>
        <p:txBody>
          <a:bodyPr>
            <a:normAutofit/>
          </a:bodyPr>
          <a:lstStyle/>
          <a:p>
            <a:pPr marL="0" indent="0">
              <a:buNone/>
            </a:pPr>
            <a:r>
              <a:rPr lang="fr-FR" sz="2800" u="sng" dirty="0">
                <a:latin typeface="Bahnschrift SemiBold" pitchFamily="34" charset="0"/>
              </a:rPr>
              <a:t>Suivi des déplacements des colis </a:t>
            </a:r>
            <a:r>
              <a:rPr lang="fr-FR" sz="2800" u="sng" dirty="0" smtClean="0">
                <a:latin typeface="Bahnschrift SemiBold" pitchFamily="34" charset="0"/>
              </a:rPr>
              <a:t>:</a:t>
            </a:r>
          </a:p>
          <a:p>
            <a:pPr marL="0" indent="0">
              <a:buNone/>
            </a:pPr>
            <a:endParaRPr lang="fr-FR" sz="2400" dirty="0" smtClean="0">
              <a:latin typeface="Bahnschrift SemiBold" pitchFamily="34" charset="0"/>
            </a:endParaRPr>
          </a:p>
          <a:p>
            <a:pPr marL="0" indent="0">
              <a:buNone/>
            </a:pPr>
            <a:r>
              <a:rPr lang="fr-FR" sz="2400" dirty="0">
                <a:latin typeface="Bahnschrift SemiBold" pitchFamily="34" charset="0"/>
              </a:rPr>
              <a:t>Grâce aux données RFID collectées, le système est en mesure de suivre les déplacements de chaque colis à travers différents points de contrôle. À chaque passage d'un colis devant un lecteur RFID, sa position, date et heure sont enregistrées. Cela permet de reconstituer le parcours complet d'un colis depuis sa réception jusqu'à sa destination finale.</a:t>
            </a:r>
          </a:p>
        </p:txBody>
      </p:sp>
    </p:spTree>
    <p:extLst>
      <p:ext uri="{BB962C8B-B14F-4D97-AF65-F5344CB8AC3E}">
        <p14:creationId xmlns:p14="http://schemas.microsoft.com/office/powerpoint/2010/main" val="227844554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gradFill flip="none" rotWithShape="1">
          <a:gsLst>
            <a:gs pos="74000">
              <a:srgbClr val="B4B4B4"/>
            </a:gs>
            <a:gs pos="89000">
              <a:srgbClr val="929292"/>
            </a:gs>
            <a:gs pos="26240">
              <a:srgbClr val="D3E2F4"/>
            </a:gs>
            <a:gs pos="16235">
              <a:srgbClr val="B4CDEC"/>
            </a:gs>
            <a:gs pos="1000">
              <a:srgbClr val="91B6E4"/>
            </a:gs>
            <a:gs pos="0">
              <a:schemeClr val="tx2">
                <a:lumMod val="60000"/>
                <a:lumOff val="40000"/>
              </a:schemeClr>
            </a:gs>
            <a:gs pos="40000">
              <a:schemeClr val="bg1">
                <a:tint val="45000"/>
                <a:shade val="99000"/>
                <a:satMod val="350000"/>
              </a:schemeClr>
            </a:gs>
            <a:gs pos="100000">
              <a:schemeClr val="bg1">
                <a:shade val="20000"/>
                <a:satMod val="255000"/>
              </a:schemeClr>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a:xfrm>
            <a:off x="0" y="0"/>
            <a:ext cx="9144000" cy="914400"/>
          </a:xfrm>
          <a:solidFill>
            <a:schemeClr val="accent1">
              <a:lumMod val="75000"/>
            </a:schemeClr>
          </a:solidFill>
          <a:scene3d>
            <a:camera prst="orthographicFront"/>
            <a:lightRig rig="threePt" dir="t"/>
          </a:scene3d>
          <a:sp3d>
            <a:bevelT/>
          </a:sp3d>
        </p:spPr>
        <p:txBody>
          <a:bodyPr/>
          <a:lstStyle/>
          <a:p>
            <a:pPr algn="l"/>
            <a:r>
              <a:rPr lang="fr-FR" dirty="0">
                <a:solidFill>
                  <a:schemeClr val="bg1"/>
                </a:solidFill>
                <a:effectLst>
                  <a:outerShdw blurRad="38100" dist="38100" dir="2700000" algn="tl">
                    <a:srgbClr val="000000">
                      <a:alpha val="43137"/>
                    </a:srgbClr>
                  </a:outerShdw>
                </a:effectLst>
                <a:latin typeface="Bahnschrift SemiBold" pitchFamily="34" charset="0"/>
              </a:rPr>
              <a:t>3. Fonctionnement du système</a:t>
            </a:r>
            <a:endParaRPr lang="fr-FR" dirty="0"/>
          </a:p>
        </p:txBody>
      </p:sp>
      <p:sp>
        <p:nvSpPr>
          <p:cNvPr id="3" name="Espace réservé du contenu 2"/>
          <p:cNvSpPr>
            <a:spLocks noGrp="1"/>
          </p:cNvSpPr>
          <p:nvPr>
            <p:ph idx="1"/>
          </p:nvPr>
        </p:nvSpPr>
        <p:spPr>
          <a:xfrm>
            <a:off x="0" y="940981"/>
            <a:ext cx="9144000" cy="5764619"/>
          </a:xfrm>
        </p:spPr>
        <p:txBody>
          <a:bodyPr>
            <a:normAutofit lnSpcReduction="10000"/>
          </a:bodyPr>
          <a:lstStyle/>
          <a:p>
            <a:pPr marL="0" indent="0">
              <a:buNone/>
            </a:pPr>
            <a:r>
              <a:rPr lang="fr-FR" sz="2800" u="sng" dirty="0">
                <a:latin typeface="Bahnschrift SemiBold" pitchFamily="34" charset="0"/>
              </a:rPr>
              <a:t>Détection d'anomalies et </a:t>
            </a:r>
            <a:r>
              <a:rPr lang="fr-FR" sz="2800" u="sng" dirty="0" smtClean="0">
                <a:latin typeface="Bahnschrift SemiBold" pitchFamily="34" charset="0"/>
              </a:rPr>
              <a:t>alertes :</a:t>
            </a:r>
          </a:p>
          <a:p>
            <a:pPr marL="0" indent="0">
              <a:buNone/>
            </a:pPr>
            <a:endParaRPr lang="fr-FR" sz="2400" dirty="0" smtClean="0">
              <a:latin typeface="Bahnschrift SemiBold" pitchFamily="34" charset="0"/>
            </a:endParaRPr>
          </a:p>
          <a:p>
            <a:pPr marL="0" indent="0">
              <a:buNone/>
            </a:pPr>
            <a:r>
              <a:rPr lang="fr-FR" sz="2400" dirty="0" smtClean="0">
                <a:latin typeface="Bahnschrift SemiBold" pitchFamily="34" charset="0"/>
              </a:rPr>
              <a:t>   Le </a:t>
            </a:r>
            <a:r>
              <a:rPr lang="fr-FR" sz="2400" dirty="0">
                <a:latin typeface="Bahnschrift SemiBold" pitchFamily="34" charset="0"/>
              </a:rPr>
              <a:t>système surveille en permanence les données relatives aux </a:t>
            </a:r>
            <a:r>
              <a:rPr lang="fr-FR" sz="2400" dirty="0" smtClean="0">
                <a:latin typeface="Bahnschrift SemiBold" pitchFamily="34" charset="0"/>
              </a:rPr>
              <a:t> colis </a:t>
            </a:r>
            <a:r>
              <a:rPr lang="fr-FR" sz="2400" dirty="0">
                <a:latin typeface="Bahnschrift SemiBold" pitchFamily="34" charset="0"/>
              </a:rPr>
              <a:t>afin de détecter tout événement inhabituel. Par </a:t>
            </a:r>
            <a:r>
              <a:rPr lang="fr-FR" sz="2400" dirty="0" smtClean="0">
                <a:latin typeface="Bahnschrift SemiBold" pitchFamily="34" charset="0"/>
              </a:rPr>
              <a:t>exemple :</a:t>
            </a:r>
          </a:p>
          <a:p>
            <a:r>
              <a:rPr lang="fr-FR" sz="2400" dirty="0" smtClean="0">
                <a:latin typeface="Bahnschrift SemiBold" pitchFamily="34" charset="0"/>
              </a:rPr>
              <a:t>Colis </a:t>
            </a:r>
            <a:r>
              <a:rPr lang="fr-FR" sz="2400" dirty="0">
                <a:latin typeface="Bahnschrift SemiBold" pitchFamily="34" charset="0"/>
              </a:rPr>
              <a:t>manquant ou déplacé sans </a:t>
            </a:r>
            <a:r>
              <a:rPr lang="fr-FR" sz="2400" dirty="0" smtClean="0">
                <a:latin typeface="Bahnschrift SemiBold" pitchFamily="34" charset="0"/>
              </a:rPr>
              <a:t>autorisation</a:t>
            </a:r>
          </a:p>
          <a:p>
            <a:r>
              <a:rPr lang="fr-FR" sz="2400" dirty="0" smtClean="0">
                <a:latin typeface="Bahnschrift SemiBold" pitchFamily="34" charset="0"/>
              </a:rPr>
              <a:t>Retard </a:t>
            </a:r>
            <a:r>
              <a:rPr lang="fr-FR" sz="2400" dirty="0">
                <a:latin typeface="Bahnschrift SemiBold" pitchFamily="34" charset="0"/>
              </a:rPr>
              <a:t>important par rapport aux délais </a:t>
            </a:r>
            <a:r>
              <a:rPr lang="fr-FR" sz="2400" dirty="0" smtClean="0">
                <a:latin typeface="Bahnschrift SemiBold" pitchFamily="34" charset="0"/>
              </a:rPr>
              <a:t>prévus</a:t>
            </a:r>
          </a:p>
          <a:p>
            <a:r>
              <a:rPr lang="fr-FR" sz="2400" dirty="0" smtClean="0">
                <a:latin typeface="Bahnschrift SemiBold" pitchFamily="34" charset="0"/>
              </a:rPr>
              <a:t>Tentative </a:t>
            </a:r>
            <a:r>
              <a:rPr lang="fr-FR" sz="2400" dirty="0">
                <a:latin typeface="Bahnschrift SemiBold" pitchFamily="34" charset="0"/>
              </a:rPr>
              <a:t>d'accès non autorisé à un </a:t>
            </a:r>
            <a:r>
              <a:rPr lang="fr-FR" sz="2400" dirty="0" smtClean="0">
                <a:latin typeface="Bahnschrift SemiBold" pitchFamily="34" charset="0"/>
              </a:rPr>
              <a:t>cargo</a:t>
            </a:r>
          </a:p>
          <a:p>
            <a:endParaRPr lang="fr-FR" sz="2400" dirty="0" smtClean="0">
              <a:latin typeface="Bahnschrift SemiBold" pitchFamily="34" charset="0"/>
            </a:endParaRPr>
          </a:p>
          <a:p>
            <a:pPr marL="0" indent="0">
              <a:buNone/>
            </a:pPr>
            <a:r>
              <a:rPr lang="fr-FR" sz="2400" dirty="0" smtClean="0">
                <a:latin typeface="Bahnschrift SemiBold" pitchFamily="34" charset="0"/>
              </a:rPr>
              <a:t>Dès </a:t>
            </a:r>
            <a:r>
              <a:rPr lang="fr-FR" sz="2400" dirty="0">
                <a:latin typeface="Bahnschrift SemiBold" pitchFamily="34" charset="0"/>
              </a:rPr>
              <a:t>qu'une anomalie est identifiée, le système déclenche automatiquement une alerte pour informer les responsables, afin qu'ils puissent intervenir rapidement</a:t>
            </a:r>
            <a:r>
              <a:rPr lang="fr-FR" sz="2400" dirty="0" smtClean="0">
                <a:latin typeface="Bahnschrift SemiBold" pitchFamily="34" charset="0"/>
              </a:rPr>
              <a:t>.</a:t>
            </a:r>
          </a:p>
          <a:p>
            <a:pPr marL="0" indent="0">
              <a:buNone/>
            </a:pPr>
            <a:endParaRPr lang="fr-FR" sz="2400" dirty="0" smtClean="0">
              <a:latin typeface="Bahnschrift SemiBold" pitchFamily="34" charset="0"/>
            </a:endParaRPr>
          </a:p>
          <a:p>
            <a:pPr marL="0" indent="0">
              <a:buNone/>
            </a:pPr>
            <a:r>
              <a:rPr lang="fr-FR" sz="2400" dirty="0" smtClean="0">
                <a:latin typeface="Bahnschrift SemiBold" pitchFamily="34" charset="0"/>
              </a:rPr>
              <a:t>Grâce </a:t>
            </a:r>
            <a:r>
              <a:rPr lang="fr-FR" sz="2400" dirty="0">
                <a:latin typeface="Bahnschrift SemiBold" pitchFamily="34" charset="0"/>
              </a:rPr>
              <a:t>à cette combinaison de fonctionnalités, le système assure une gestion efficace et sécurisée du transport et de la logistique des colis.</a:t>
            </a:r>
          </a:p>
        </p:txBody>
      </p:sp>
    </p:spTree>
    <p:extLst>
      <p:ext uri="{BB962C8B-B14F-4D97-AF65-F5344CB8AC3E}">
        <p14:creationId xmlns:p14="http://schemas.microsoft.com/office/powerpoint/2010/main" val="243073977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gradFill flip="none" rotWithShape="1">
          <a:gsLst>
            <a:gs pos="60405">
              <a:srgbClr val="E6E6E6"/>
            </a:gs>
            <a:gs pos="75000">
              <a:srgbClr val="D5D5D5"/>
            </a:gs>
            <a:gs pos="91000">
              <a:srgbClr val="B3B3B3"/>
            </a:gs>
            <a:gs pos="11000">
              <a:srgbClr val="AAC6EA"/>
            </a:gs>
            <a:gs pos="0">
              <a:schemeClr val="tx2">
                <a:lumMod val="60000"/>
                <a:lumOff val="40000"/>
              </a:schemeClr>
            </a:gs>
            <a:gs pos="40000">
              <a:schemeClr val="bg1">
                <a:tint val="45000"/>
                <a:shade val="99000"/>
                <a:satMod val="350000"/>
              </a:schemeClr>
            </a:gs>
            <a:gs pos="100000">
              <a:schemeClr val="bg1">
                <a:shade val="20000"/>
                <a:satMod val="255000"/>
              </a:schemeClr>
            </a:gs>
          </a:gsLst>
          <a:path path="rect">
            <a:fillToRect l="100000" t="100000"/>
          </a:path>
          <a:tileRect r="-100000" b="-100000"/>
        </a:gra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a:xfrm>
            <a:off x="0" y="0"/>
            <a:ext cx="9144000" cy="914400"/>
          </a:xfrm>
          <a:solidFill>
            <a:schemeClr val="accent1">
              <a:lumMod val="75000"/>
            </a:schemeClr>
          </a:solidFill>
          <a:scene3d>
            <a:camera prst="orthographicFront"/>
            <a:lightRig rig="threePt" dir="t"/>
          </a:scene3d>
          <a:sp3d>
            <a:bevelT/>
          </a:sp3d>
        </p:spPr>
        <p:txBody>
          <a:bodyPr>
            <a:normAutofit/>
          </a:bodyPr>
          <a:lstStyle/>
          <a:p>
            <a:pPr algn="l"/>
            <a:r>
              <a:rPr lang="fr-FR" dirty="0">
                <a:solidFill>
                  <a:schemeClr val="bg1"/>
                </a:solidFill>
                <a:effectLst>
                  <a:outerShdw blurRad="38100" dist="38100" dir="2700000" algn="tl">
                    <a:srgbClr val="000000">
                      <a:alpha val="43137"/>
                    </a:srgbClr>
                  </a:outerShdw>
                </a:effectLst>
                <a:latin typeface="Bahnschrift SemiBold" pitchFamily="34" charset="0"/>
              </a:rPr>
              <a:t>4. Conclusion </a:t>
            </a:r>
            <a:endParaRPr lang="fr-FR" dirty="0">
              <a:solidFill>
                <a:schemeClr val="bg1"/>
              </a:solidFill>
            </a:endParaRPr>
          </a:p>
        </p:txBody>
      </p:sp>
      <p:sp>
        <p:nvSpPr>
          <p:cNvPr id="3" name="Espace réservé du contenu 2"/>
          <p:cNvSpPr>
            <a:spLocks noGrp="1"/>
          </p:cNvSpPr>
          <p:nvPr>
            <p:ph idx="1"/>
          </p:nvPr>
        </p:nvSpPr>
        <p:spPr>
          <a:xfrm>
            <a:off x="0" y="914400"/>
            <a:ext cx="9144000" cy="5486400"/>
          </a:xfrm>
        </p:spPr>
        <p:txBody>
          <a:bodyPr>
            <a:normAutofit/>
          </a:bodyPr>
          <a:lstStyle/>
          <a:p>
            <a:pPr marL="0" indent="0">
              <a:buNone/>
            </a:pPr>
            <a:r>
              <a:rPr lang="fr-FR" sz="2800" u="sng" dirty="0">
                <a:latin typeface="Bahnschrift SemiBold" pitchFamily="34" charset="0"/>
              </a:rPr>
              <a:t>Résumé des </a:t>
            </a:r>
            <a:r>
              <a:rPr lang="fr-FR" sz="2800" u="sng" dirty="0" smtClean="0">
                <a:latin typeface="Bahnschrift SemiBold" pitchFamily="34" charset="0"/>
              </a:rPr>
              <a:t>bénéfices :</a:t>
            </a:r>
          </a:p>
          <a:p>
            <a:pPr marL="0" indent="0">
              <a:buNone/>
            </a:pPr>
            <a:r>
              <a:rPr lang="fr-FR" sz="2400" dirty="0" smtClean="0">
                <a:latin typeface="Bahnschrift SemiBold" pitchFamily="34" charset="0"/>
              </a:rPr>
              <a:t>Le </a:t>
            </a:r>
            <a:r>
              <a:rPr lang="fr-FR" sz="2400" dirty="0">
                <a:latin typeface="Bahnschrift SemiBold" pitchFamily="34" charset="0"/>
              </a:rPr>
              <a:t>système mis en place apporte plusieurs bénéfices clés pour la gestion du transport et de la logistique des colis </a:t>
            </a:r>
            <a:r>
              <a:rPr lang="fr-FR" sz="2400" dirty="0" smtClean="0">
                <a:latin typeface="Bahnschrift SemiBold" pitchFamily="34" charset="0"/>
              </a:rPr>
              <a:t>:</a:t>
            </a:r>
          </a:p>
          <a:p>
            <a:r>
              <a:rPr lang="fr-FR" sz="2400" dirty="0" smtClean="0">
                <a:latin typeface="Bahnschrift SemiBold" pitchFamily="34" charset="0"/>
              </a:rPr>
              <a:t>Identification </a:t>
            </a:r>
            <a:r>
              <a:rPr lang="fr-FR" sz="2400" dirty="0">
                <a:latin typeface="Bahnschrift SemiBold" pitchFamily="34" charset="0"/>
              </a:rPr>
              <a:t>précise et sécurisée des colis grâce à la </a:t>
            </a:r>
            <a:r>
              <a:rPr lang="fr-FR" sz="2400" dirty="0" smtClean="0">
                <a:latin typeface="Bahnschrift SemiBold" pitchFamily="34" charset="0"/>
              </a:rPr>
              <a:t>techno- </a:t>
            </a:r>
            <a:r>
              <a:rPr lang="fr-FR" sz="2400" dirty="0" err="1" smtClean="0">
                <a:latin typeface="Bahnschrift SemiBold" pitchFamily="34" charset="0"/>
              </a:rPr>
              <a:t>logie</a:t>
            </a:r>
            <a:r>
              <a:rPr lang="fr-FR" sz="2400" dirty="0" smtClean="0">
                <a:latin typeface="Bahnschrift SemiBold" pitchFamily="34" charset="0"/>
              </a:rPr>
              <a:t> RFID.</a:t>
            </a:r>
          </a:p>
          <a:p>
            <a:r>
              <a:rPr lang="fr-FR" sz="2400" dirty="0" smtClean="0">
                <a:latin typeface="Bahnschrift SemiBold" pitchFamily="34" charset="0"/>
              </a:rPr>
              <a:t>Suivi </a:t>
            </a:r>
            <a:r>
              <a:rPr lang="fr-FR" sz="2400" dirty="0">
                <a:latin typeface="Bahnschrift SemiBold" pitchFamily="34" charset="0"/>
              </a:rPr>
              <a:t>complet des déplacements des colis depuis leur </a:t>
            </a:r>
            <a:r>
              <a:rPr lang="fr-FR" sz="2400" dirty="0" err="1" smtClean="0">
                <a:latin typeface="Bahnschrift SemiBold" pitchFamily="34" charset="0"/>
              </a:rPr>
              <a:t>récept</a:t>
            </a:r>
            <a:r>
              <a:rPr lang="fr-FR" sz="2400" dirty="0" smtClean="0">
                <a:latin typeface="Bahnschrift SemiBold" pitchFamily="34" charset="0"/>
              </a:rPr>
              <a:t>- ion </a:t>
            </a:r>
            <a:r>
              <a:rPr lang="fr-FR" sz="2400" dirty="0">
                <a:latin typeface="Bahnschrift SemiBold" pitchFamily="34" charset="0"/>
              </a:rPr>
              <a:t>jusqu'à leur </a:t>
            </a:r>
            <a:r>
              <a:rPr lang="fr-FR" sz="2400" dirty="0" smtClean="0">
                <a:latin typeface="Bahnschrift SemiBold" pitchFamily="34" charset="0"/>
              </a:rPr>
              <a:t>destination.</a:t>
            </a:r>
          </a:p>
          <a:p>
            <a:r>
              <a:rPr lang="fr-FR" sz="2400" dirty="0" smtClean="0">
                <a:latin typeface="Bahnschrift SemiBold" pitchFamily="34" charset="0"/>
              </a:rPr>
              <a:t>Contrôle </a:t>
            </a:r>
            <a:r>
              <a:rPr lang="fr-FR" sz="2400" dirty="0">
                <a:latin typeface="Bahnschrift SemiBold" pitchFamily="34" charset="0"/>
              </a:rPr>
              <a:t>d'accès automatisé aux cargos via le </a:t>
            </a:r>
            <a:r>
              <a:rPr lang="fr-FR" sz="2400" dirty="0" smtClean="0">
                <a:latin typeface="Bahnschrift SemiBold" pitchFamily="34" charset="0"/>
              </a:rPr>
              <a:t>servomoteur.</a:t>
            </a:r>
          </a:p>
          <a:p>
            <a:r>
              <a:rPr lang="fr-FR" sz="2400" dirty="0" smtClean="0">
                <a:latin typeface="Bahnschrift SemiBold" pitchFamily="34" charset="0"/>
              </a:rPr>
              <a:t>Détection </a:t>
            </a:r>
            <a:r>
              <a:rPr lang="fr-FR" sz="2400" dirty="0">
                <a:latin typeface="Bahnschrift SemiBold" pitchFamily="34" charset="0"/>
              </a:rPr>
              <a:t>rapide des anomalies et déclenchement d'alertes pour une meilleure </a:t>
            </a:r>
            <a:r>
              <a:rPr lang="fr-FR" sz="2400" dirty="0" smtClean="0">
                <a:latin typeface="Bahnschrift SemiBold" pitchFamily="34" charset="0"/>
              </a:rPr>
              <a:t>réactivité.</a:t>
            </a:r>
          </a:p>
          <a:p>
            <a:endParaRPr lang="fr-FR" sz="2400" dirty="0" smtClean="0">
              <a:latin typeface="Bahnschrift SemiBold" pitchFamily="34" charset="0"/>
            </a:endParaRPr>
          </a:p>
          <a:p>
            <a:pPr marL="0" indent="0">
              <a:buNone/>
            </a:pPr>
            <a:r>
              <a:rPr lang="fr-FR" sz="2400" dirty="0" smtClean="0">
                <a:latin typeface="Bahnschrift SemiBold" pitchFamily="34" charset="0"/>
              </a:rPr>
              <a:t>Ces </a:t>
            </a:r>
            <a:r>
              <a:rPr lang="fr-FR" sz="2400" dirty="0">
                <a:latin typeface="Bahnschrift SemiBold" pitchFamily="34" charset="0"/>
              </a:rPr>
              <a:t>fonctionnalités permettent d'améliorer considérablement la traçabilité, la sécurité et l'efficacité de la chaîne logistique.</a:t>
            </a:r>
          </a:p>
        </p:txBody>
      </p:sp>
    </p:spTree>
    <p:extLst>
      <p:ext uri="{BB962C8B-B14F-4D97-AF65-F5344CB8AC3E}">
        <p14:creationId xmlns:p14="http://schemas.microsoft.com/office/powerpoint/2010/main" val="1251306470"/>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gradFill flip="none" rotWithShape="1">
          <a:gsLst>
            <a:gs pos="72000">
              <a:srgbClr val="DBDBDB"/>
            </a:gs>
            <a:gs pos="57000">
              <a:schemeClr val="bg1">
                <a:tint val="45000"/>
                <a:shade val="99000"/>
                <a:satMod val="350000"/>
              </a:schemeClr>
            </a:gs>
            <a:gs pos="100000">
              <a:schemeClr val="bg1">
                <a:shade val="20000"/>
                <a:satMod val="255000"/>
              </a:schemeClr>
            </a:gs>
          </a:gsLst>
          <a:path path="shape">
            <a:fillToRect l="50000" t="50000" r="50000" b="50000"/>
          </a:path>
          <a:tileRect/>
        </a:gradFill>
        <a:effectLst/>
      </p:bgPr>
    </p:bg>
    <p:spTree>
      <p:nvGrpSpPr>
        <p:cNvPr id="1" name=""/>
        <p:cNvGrpSpPr/>
        <p:nvPr/>
      </p:nvGrpSpPr>
      <p:grpSpPr>
        <a:xfrm>
          <a:off x="0" y="0"/>
          <a:ext cx="0" cy="0"/>
          <a:chOff x="0" y="0"/>
          <a:chExt cx="0" cy="0"/>
        </a:xfrm>
      </p:grpSpPr>
      <p:sp>
        <p:nvSpPr>
          <p:cNvPr id="3" name="Espace réservé du contenu 2"/>
          <p:cNvSpPr>
            <a:spLocks noGrp="1"/>
          </p:cNvSpPr>
          <p:nvPr>
            <p:ph idx="1"/>
          </p:nvPr>
        </p:nvSpPr>
        <p:spPr/>
        <p:txBody>
          <a:bodyPr>
            <a:normAutofit/>
          </a:bodyPr>
          <a:lstStyle/>
          <a:p>
            <a:pPr marL="0" indent="0" algn="ctr">
              <a:buNone/>
            </a:pPr>
            <a:endParaRPr lang="fr-FR" sz="2400" dirty="0" smtClean="0">
              <a:latin typeface="Bahnschrift SemiBold" pitchFamily="34" charset="0"/>
            </a:endParaRPr>
          </a:p>
          <a:p>
            <a:pPr marL="0" indent="0" algn="dist">
              <a:buNone/>
            </a:pPr>
            <a:endParaRPr lang="fr-FR" sz="2400" dirty="0">
              <a:latin typeface="Bahnschrift SemiBold" pitchFamily="34" charset="0"/>
            </a:endParaRPr>
          </a:p>
        </p:txBody>
      </p:sp>
      <p:sp>
        <p:nvSpPr>
          <p:cNvPr id="6" name="ZoneTexte 5"/>
          <p:cNvSpPr txBox="1"/>
          <p:nvPr/>
        </p:nvSpPr>
        <p:spPr>
          <a:xfrm>
            <a:off x="1066800" y="1371600"/>
            <a:ext cx="7391400" cy="4216539"/>
          </a:xfrm>
          <a:prstGeom prst="rect">
            <a:avLst/>
          </a:prstGeom>
          <a:solidFill>
            <a:schemeClr val="accent1">
              <a:lumMod val="60000"/>
              <a:lumOff val="40000"/>
            </a:schemeClr>
          </a:solidFill>
          <a:ln>
            <a:solidFill>
              <a:schemeClr val="tx1"/>
            </a:solidFill>
          </a:ln>
        </p:spPr>
        <p:txBody>
          <a:bodyPr wrap="square" rtlCol="0">
            <a:spAutoFit/>
          </a:bodyPr>
          <a:lstStyle/>
          <a:p>
            <a:pPr algn="ctr"/>
            <a:r>
              <a:rPr lang="fr-FR" sz="2800" u="sng" dirty="0">
                <a:latin typeface="Bahnschrift SemiBold" pitchFamily="34" charset="0"/>
              </a:rPr>
              <a:t>conclusion </a:t>
            </a:r>
            <a:r>
              <a:rPr lang="fr-FR" sz="2800" u="sng" dirty="0" smtClean="0">
                <a:latin typeface="Bahnschrift SemiBold" pitchFamily="34" charset="0"/>
              </a:rPr>
              <a:t>générale</a:t>
            </a:r>
          </a:p>
          <a:p>
            <a:pPr algn="ctr"/>
            <a:r>
              <a:rPr lang="fr-FR" sz="2400" dirty="0">
                <a:latin typeface="Bahnschrift SemiBold" pitchFamily="34" charset="0"/>
              </a:rPr>
              <a:t>Le système proposé permet une gestion optimisée et sécurisée des colis tout au long de leur parcours, depuis leur identification jusqu'à leur livraison finale. Grâce à l'intégration de la technologie RFID, chaque colis peut être suivi en temps réel, ce qui permet une traçabilité précise et une gestion efficace des flux logistiques. La détection d'anomalies et l'alerte automatique garantissent une réactivité rapide face aux imprévus, assurant ainsi une réduction des erreurs et des retards.</a:t>
            </a:r>
          </a:p>
        </p:txBody>
      </p:sp>
    </p:spTree>
    <p:extLst>
      <p:ext uri="{BB962C8B-B14F-4D97-AF65-F5344CB8AC3E}">
        <p14:creationId xmlns:p14="http://schemas.microsoft.com/office/powerpoint/2010/main" val="1640645750"/>
      </p:ext>
    </p:extLst>
  </p:cSld>
  <p:clrMapOvr>
    <a:masterClrMapping/>
  </p:clrMapOvr>
  <p:timing>
    <p:tnLst>
      <p:par>
        <p:cTn id="1" dur="indefinite" restart="never" nodeType="tmRoot"/>
      </p:par>
    </p:tnLst>
  </p:timing>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504</TotalTime>
  <Words>1261</Words>
  <Application>Microsoft Office PowerPoint</Application>
  <PresentationFormat>Affichage à l'écran (4:3)</PresentationFormat>
  <Paragraphs>102</Paragraphs>
  <Slides>18</Slides>
  <Notes>2</Notes>
  <HiddenSlides>0</HiddenSlides>
  <MMClips>0</MMClips>
  <ScaleCrop>false</ScaleCrop>
  <HeadingPairs>
    <vt:vector size="4" baseType="variant">
      <vt:variant>
        <vt:lpstr>Thème</vt:lpstr>
      </vt:variant>
      <vt:variant>
        <vt:i4>1</vt:i4>
      </vt:variant>
      <vt:variant>
        <vt:lpstr>Titres des diapositives</vt:lpstr>
      </vt:variant>
      <vt:variant>
        <vt:i4>18</vt:i4>
      </vt:variant>
    </vt:vector>
  </HeadingPairs>
  <TitlesOfParts>
    <vt:vector size="19" baseType="lpstr">
      <vt:lpstr>Thème Office</vt:lpstr>
      <vt:lpstr>Système d'Identification et de Suivi des marchandises par RFID</vt:lpstr>
      <vt:lpstr>Table des matières</vt:lpstr>
      <vt:lpstr>Présentation PowerPoint</vt:lpstr>
      <vt:lpstr> 1. Introduction </vt:lpstr>
      <vt:lpstr>1. Introduction</vt:lpstr>
      <vt:lpstr>1. Introduction</vt:lpstr>
      <vt:lpstr>2. Composants du système </vt:lpstr>
      <vt:lpstr>2. Composants du système </vt:lpstr>
      <vt:lpstr>2. Composants du système </vt:lpstr>
      <vt:lpstr>2. Composants du système </vt:lpstr>
      <vt:lpstr>2. Composants du système </vt:lpstr>
      <vt:lpstr>Présentation PowerPoint</vt:lpstr>
      <vt:lpstr>3. Fonctionnement du système</vt:lpstr>
      <vt:lpstr>3. Fonctionnement du système</vt:lpstr>
      <vt:lpstr>3. Fonctionnement du système</vt:lpstr>
      <vt:lpstr>3. Fonctionnement du système</vt:lpstr>
      <vt:lpstr>4. Conclusion </vt:lpstr>
      <vt:lpstr>Présentation PowerPoint</vt:lpstr>
    </vt:vector>
  </TitlesOfParts>
  <Company>PCLINE</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USER</dc:creator>
  <cp:lastModifiedBy>USER</cp:lastModifiedBy>
  <cp:revision>38</cp:revision>
  <dcterms:created xsi:type="dcterms:W3CDTF">2024-11-07T14:22:57Z</dcterms:created>
  <dcterms:modified xsi:type="dcterms:W3CDTF">2024-11-13T18:19:20Z</dcterms:modified>
</cp:coreProperties>
</file>